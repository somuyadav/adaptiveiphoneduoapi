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e244b3c54f4e3f" /><Relationship Type="http://schemas.openxmlformats.org/officeDocument/2006/relationships/extended-properties" Target="/docProps/app.xml" Id="Ra07c5ca9a7984707" /><Relationship Type="http://schemas.openxmlformats.org/officeDocument/2006/relationships/officeDocument" Target="/ppt/presentation.xml" Id="Rb4d6a98be83f4670" /></Relationships>
</file>

<file path=ppt/presentation.xml><?xml version="1.0" encoding="utf-8"?>
<p:presentation xmlns:p="http://schemas.openxmlformats.org/presentationml/2006/main">
  <p:sldMasterIdLst>
    <p:sldMasterId xmlns:r="http://schemas.openxmlformats.org/officeDocument/2006/relationships" id="2147483648" r:id="R4fa6589b05c54686"/>
  </p:sldMasterIdLst>
  <p:notesMasterIdLst>
    <p:notesMasterId xmlns:r="http://schemas.openxmlformats.org/officeDocument/2006/relationships" r:id="R14c58177299d4c8e"/>
  </p:notesMasterIdLst>
  <p:sldIdLst>
    <p:sldId xmlns:r="http://schemas.openxmlformats.org/officeDocument/2006/relationships" id="256" r:id="R1e8be6357fe346b7"/>
    <p:sldId xmlns:r="http://schemas.openxmlformats.org/officeDocument/2006/relationships" id="257" r:id="R2142d0b713f448fd"/>
    <p:sldId xmlns:r="http://schemas.openxmlformats.org/officeDocument/2006/relationships" id="258" r:id="R25ce3c993daa4ff2"/>
    <p:sldId xmlns:r="http://schemas.openxmlformats.org/officeDocument/2006/relationships" id="259" r:id="R99804dc8c84a4b15"/>
    <p:sldId xmlns:r="http://schemas.openxmlformats.org/officeDocument/2006/relationships" id="260" r:id="R090808ec3344498f"/>
    <p:sldId xmlns:r="http://schemas.openxmlformats.org/officeDocument/2006/relationships" id="261" r:id="R860c46c9cc384d9e"/>
    <p:sldId xmlns:r="http://schemas.openxmlformats.org/officeDocument/2006/relationships" id="262" r:id="Rbb3981ccc5b24085"/>
    <p:sldId xmlns:r="http://schemas.openxmlformats.org/officeDocument/2006/relationships" id="263" r:id="R85e20ffbb4a84a6f"/>
    <p:sldId xmlns:r="http://schemas.openxmlformats.org/officeDocument/2006/relationships" id="264" r:id="Rf36310724a8d4731"/>
    <p:sldId xmlns:r="http://schemas.openxmlformats.org/officeDocument/2006/relationships" id="265" r:id="Reb86b6ab8c9348c2"/>
    <p:sldId xmlns:r="http://schemas.openxmlformats.org/officeDocument/2006/relationships" id="266" r:id="Raa021f9851a94c00"/>
    <p:sldId xmlns:r="http://schemas.openxmlformats.org/officeDocument/2006/relationships" id="267" r:id="Re099e7d4088f4f7c"/>
    <p:sldId xmlns:r="http://schemas.openxmlformats.org/officeDocument/2006/relationships" id="268" r:id="R4931b45c99fe4d4b"/>
    <p:sldId xmlns:r="http://schemas.openxmlformats.org/officeDocument/2006/relationships" id="269" r:id="Rc84189fd5e7e4fed"/>
    <p:sldId xmlns:r="http://schemas.openxmlformats.org/officeDocument/2006/relationships" id="270" r:id="R3812f9802f244605"/>
    <p:sldId xmlns:r="http://schemas.openxmlformats.org/officeDocument/2006/relationships" id="271" r:id="Re3406f227a0e4d04"/>
    <p:sldId xmlns:r="http://schemas.openxmlformats.org/officeDocument/2006/relationships" id="272" r:id="Rd160f38f687c4653"/>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f096d78c7654abe" /><Relationship Type="http://schemas.openxmlformats.org/officeDocument/2006/relationships/slideMaster" Target="/ppt/slideMasters/slideMaster1.xml" Id="R4fa6589b05c54686" /><Relationship Type="http://schemas.openxmlformats.org/officeDocument/2006/relationships/notesMaster" Target="/ppt/notesMasters/notesMaster1.xml" Id="R14c58177299d4c8e" /><Relationship Type="http://schemas.openxmlformats.org/officeDocument/2006/relationships/presProps" Target="/ppt/presProps.xml" Id="R7183b89875944b4c" /><Relationship Type="http://schemas.openxmlformats.org/officeDocument/2006/relationships/viewProps" Target="/ppt/viewProps.xml" Id="R5a3f9d2bb16d4101" /><Relationship Type="http://schemas.openxmlformats.org/officeDocument/2006/relationships/tableStyles" Target="/ppt/tableStyles.xml" Id="R1211da675a854308" /><Relationship Type="http://schemas.openxmlformats.org/officeDocument/2006/relationships/slide" Target="/ppt/slides/slide1.xml" Id="R1e8be6357fe346b7" /><Relationship Type="http://schemas.openxmlformats.org/officeDocument/2006/relationships/slide" Target="/ppt/slides/slide2.xml" Id="R2142d0b713f448fd" /><Relationship Type="http://schemas.openxmlformats.org/officeDocument/2006/relationships/slide" Target="/ppt/slides/slide3.xml" Id="R25ce3c993daa4ff2" /><Relationship Type="http://schemas.openxmlformats.org/officeDocument/2006/relationships/slide" Target="/ppt/slides/slide4.xml" Id="R99804dc8c84a4b15" /><Relationship Type="http://schemas.openxmlformats.org/officeDocument/2006/relationships/slide" Target="/ppt/slides/slide5.xml" Id="R090808ec3344498f" /><Relationship Type="http://schemas.openxmlformats.org/officeDocument/2006/relationships/slide" Target="/ppt/slides/slide6.xml" Id="R860c46c9cc384d9e" /><Relationship Type="http://schemas.openxmlformats.org/officeDocument/2006/relationships/slide" Target="/ppt/slides/slide7.xml" Id="Rbb3981ccc5b24085" /><Relationship Type="http://schemas.openxmlformats.org/officeDocument/2006/relationships/slide" Target="/ppt/slides/slide8.xml" Id="R85e20ffbb4a84a6f" /><Relationship Type="http://schemas.openxmlformats.org/officeDocument/2006/relationships/slide" Target="/ppt/slides/slide9.xml" Id="Rf36310724a8d4731" /><Relationship Type="http://schemas.openxmlformats.org/officeDocument/2006/relationships/slide" Target="/ppt/slides/slide10.xml" Id="Reb86b6ab8c9348c2" /><Relationship Type="http://schemas.openxmlformats.org/officeDocument/2006/relationships/slide" Target="/ppt/slides/slide11.xml" Id="Raa021f9851a94c00" /><Relationship Type="http://schemas.openxmlformats.org/officeDocument/2006/relationships/slide" Target="/ppt/slides/slide12.xml" Id="Re099e7d4088f4f7c" /><Relationship Type="http://schemas.openxmlformats.org/officeDocument/2006/relationships/slide" Target="/ppt/slides/slide13.xml" Id="R4931b45c99fe4d4b" /><Relationship Type="http://schemas.openxmlformats.org/officeDocument/2006/relationships/slide" Target="/ppt/slides/slide14.xml" Id="Rc84189fd5e7e4fed" /><Relationship Type="http://schemas.openxmlformats.org/officeDocument/2006/relationships/slide" Target="/ppt/slides/slide15.xml" Id="R3812f9802f244605" /><Relationship Type="http://schemas.openxmlformats.org/officeDocument/2006/relationships/slide" Target="/ppt/slides/slide16.xml" Id="Re3406f227a0e4d04" /><Relationship Type="http://schemas.openxmlformats.org/officeDocument/2006/relationships/slide" Target="/ppt/slides/slide17.xml" Id="Rd160f38f687c46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e16fa14a0846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9f82ab995b472a" /><Relationship Type="http://schemas.openxmlformats.org/officeDocument/2006/relationships/notesMaster" Target="/ppt/notesMasters/notesMaster1.xml" Id="Re501169553824a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8b6fb772b744a9" /><Relationship Type="http://schemas.openxmlformats.org/officeDocument/2006/relationships/notesMaster" Target="/ppt/notesMasters/notesMaster1.xml" Id="Re1ae8a19cbc248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2d9a56dc084734" /><Relationship Type="http://schemas.openxmlformats.org/officeDocument/2006/relationships/notesMaster" Target="/ppt/notesMasters/notesMaster1.xml" Id="Rf068d6046e7448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68a6f5bfcd453e" /><Relationship Type="http://schemas.openxmlformats.org/officeDocument/2006/relationships/notesMaster" Target="/ppt/notesMasters/notesMaster1.xml" Id="R589096dd17a546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3fddaf299b41de" /><Relationship Type="http://schemas.openxmlformats.org/officeDocument/2006/relationships/notesMaster" Target="/ppt/notesMasters/notesMaster1.xml" Id="R985c8cc17cd241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abc51508ae4dbc" /><Relationship Type="http://schemas.openxmlformats.org/officeDocument/2006/relationships/notesMaster" Target="/ppt/notesMasters/notesMaster1.xml" Id="R233e67c2eef748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c5f8831c4f47c6" /><Relationship Type="http://schemas.openxmlformats.org/officeDocument/2006/relationships/notesMaster" Target="/ppt/notesMasters/notesMaster1.xml" Id="R31bc66c788a44e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47e67bdf81488b" /><Relationship Type="http://schemas.openxmlformats.org/officeDocument/2006/relationships/notesMaster" Target="/ppt/notesMasters/notesMaster1.xml" Id="R54b64daeb59049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abac7a8d75455d" /><Relationship Type="http://schemas.openxmlformats.org/officeDocument/2006/relationships/notesMaster" Target="/ppt/notesMasters/notesMaster1.xml" Id="R575bf649d22842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084ffa3f6d4b74" /><Relationship Type="http://schemas.openxmlformats.org/officeDocument/2006/relationships/notesMaster" Target="/ppt/notesMasters/notesMaster1.xml" Id="R632d1815bacd44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363959c0f14403" /><Relationship Type="http://schemas.openxmlformats.org/officeDocument/2006/relationships/notesMaster" Target="/ppt/notesMasters/notesMaster1.xml" Id="R3a036e8535374f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b4d68d2ff84c22" /><Relationship Type="http://schemas.openxmlformats.org/officeDocument/2006/relationships/notesMaster" Target="/ppt/notesMasters/notesMaster1.xml" Id="Rcae896d2373e4e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2dc8ad4100478f" /><Relationship Type="http://schemas.openxmlformats.org/officeDocument/2006/relationships/notesMaster" Target="/ppt/notesMasters/notesMaster1.xml" Id="R76bd60701a8b4c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cd1d9dc59e4c4e" /><Relationship Type="http://schemas.openxmlformats.org/officeDocument/2006/relationships/notesMaster" Target="/ppt/notesMasters/notesMaster1.xml" Id="R390d5f1853a14d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f386cdb35d4147" /><Relationship Type="http://schemas.openxmlformats.org/officeDocument/2006/relationships/notesMaster" Target="/ppt/notesMasters/notesMaster1.xml" Id="Rfe28f654597149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baa2e54d6943d6" /><Relationship Type="http://schemas.openxmlformats.org/officeDocument/2006/relationships/notesMaster" Target="/ppt/notesMasters/notesMaster1.xml" Id="R19df708f9e7b4f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56e4ad4bd44058" /><Relationship Type="http://schemas.openxmlformats.org/officeDocument/2006/relationships/notesMaster" Target="/ppt/notesMasters/notesMaster1.xml" Id="R79cd54af404246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Presenter: Somendra. Objective: explain how to adapt an existing application to changing display and window sizes using SwiftUI and UIKit, while preserving content, control reachability and state. The following slides connect APIs, code and UI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project’s own earlier captures: Docs/Screenshots/01_outer_portrait.png and 02_inner_open.png. The labels in the app are demonstration presets, not detection of real hardware. They establish the existing app hierarchy and content, not successful execution of the latest changes. The source now includes native Workspace, Review and Settings tabs plus API Lab, which these earlier captures predate. The objective is one adaptable application, with native navigation and targeted custom layout changes. All evidence links remain in speaker notes. No source/reference slides are included.</a:t>
            </a:r>
          </a:p>
          <a:p xmlns:a="http://schemas.openxmlformats.org/drawingml/2006/main">
            <a:r>
              <a:t/>
            </a:r>
          </a:p>
          <a:p xmlns:a="http://schemas.openxmlformats.org/drawingml/2006/main">
            <a:r>
              <a:t>https://developer.apple.com/videos/play/tech-talks/111466/</a:t>
            </a:r>
          </a:p>
          <a:p xmlns:a="http://schemas.openxmlformats.org/drawingml/2006/main">
            <a:r>
              <a:t/>
            </a:r>
          </a:p>
          <a:p xmlns:a="http://schemas.openxmlformats.org/drawingml/2006/main">
            <a:r>
              <a:t>https://developer.apple.com/videos/play/tech-talks/111461/</a:t>
            </a:r>
          </a:p>
          <a:p xmlns:a="http://schemas.openxmlformats.org/drawingml/2006/main">
            <a:r>
              <a:t/>
            </a:r>
          </a:p>
          <a:p xmlns:a="http://schemas.openxmlformats.org/drawingml/2006/main">
            <a:r>
              <a:t>https://www.avanderlee.com/swiftui/iphone-duo-simulator/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LayoutAPIDemo.swift now implements AnyLayout with persistent title/completion state, local width and Dynamic Type. The 600-point slide threshold is illustrative; this demo uses 640 points as a content-fit rule. UIKitAPIDemo.swift reads the local view traitCollection.displayScale.</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https://developer.apple.com/documentation/swiftui/geometryreader</a:t>
            </a:r>
          </a:p>
          <a:p xmlns:a="http://schemas.openxmlformats.org/drawingml/2006/main">
            <a:r>
              <a:t>https://developer.apple.com/documentation/swiftui/anylayout</a:t>
            </a:r>
          </a:p>
          <a:p xmlns:a="http://schemas.openxmlformats.org/drawingml/2006/main">
            <a:r>
              <a:t>https://developer.apple.com/documentation/swiftui/environmentvalues/horizontalsizeclass</a:t>
            </a:r>
          </a:p>
          <a:p xmlns:a="http://schemas.openxmlformats.org/drawingml/2006/main">
            <a:r>
              <a:t>https://developer.apple.com/documentation/swiftui/environmentvalues/verticalsizeclass</a:t>
            </a:r>
          </a:p>
          <a:p xmlns:a="http://schemas.openxmlformats.org/drawingml/2006/main">
            <a:r>
              <a:t>https://developer.apple.com/documentation/uikit/uiscreen/main</a:t>
            </a:r>
          </a:p>
          <a:p xmlns:a="http://schemas.openxmlformats.org/drawingml/2006/main">
            <a:r>
              <a:t>https://developer.apple.com/documentation/uikit/uiwindowscene/screen</a:t>
            </a:r>
          </a:p>
          <a:p xmlns:a="http://schemas.openxmlformats.org/drawingml/2006/main">
            <a:r>
              <a:t>https://developer.apple.com/videos/play/tech-talks/111461/?time=166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TabAPIDemo.swift is now an interactive full-screen tab session with shared note state, sidebarAdaptable, defaultTabBarPlacement (native compile path) and defaultAdaptableTabBarPlacement for iPad. UIKitAPIDemo.swift hosts UITabBarController, sidebar mode and preferredPlacement in a separate session. The code shown is a condensed pattern; RootView itself continues to own the main three destinations.</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https://developer.apple.com/documentation/swiftui/tabview</a:t>
            </a:r>
          </a:p>
          <a:p xmlns:a="http://schemas.openxmlformats.org/drawingml/2006/main">
            <a:r>
              <a:t>https://developer.apple.com/documentation/swiftui/tab</a:t>
            </a:r>
          </a:p>
          <a:p xmlns:a="http://schemas.openxmlformats.org/drawingml/2006/main">
            <a:r>
              <a:t>https://developer.apple.com/documentation/swiftui/view/defaulttabbarplacement(_:)</a:t>
            </a:r>
          </a:p>
          <a:p xmlns:a="http://schemas.openxmlformats.org/drawingml/2006/main">
            <a:r>
              <a:t>https://developer.apple.com/documentation/swiftui/tabviewstyle/sidebaradaptable</a:t>
            </a:r>
          </a:p>
          <a:p xmlns:a="http://schemas.openxmlformats.org/drawingml/2006/main">
            <a:r>
              <a:t>https://developer.apple.com/documentation/uikit/uitabbarcontroller/sidebar</a:t>
            </a:r>
          </a:p>
          <a:p xmlns:a="http://schemas.openxmlformats.org/drawingml/2006/main">
            <a:r>
              <a:t>https://developer.apple.com/videos/play/tech-talks/111461/?time=323</a:t>
            </a:r>
          </a:p>
          <a:p xmlns:a="http://schemas.openxmlformats.org/drawingml/2006/main">
            <a:r>
              <a:t>https://developer.apple.com/videos/play/tech-talks/111462/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condensed excerpt mirrors RootView.workspace. workspaceDetail represents the existing DashboardView call with filteredItems and its bindings. It is a named helper for readability, not a new API or declaration already in RootView. WorkCategory, selectedCategory and filtered data are project-owned. The same SwiftData container and navigation state survive layout changes. Do not wrap an existing NavigationSplitView detail in an extra NavigationStack merely to attach a toolbar. The screenshot is a crop of Docs/Screenshots/02_inner_open.png. Separate app-to-app Split View multitasking from this within-app navigation container.</a:t>
            </a:r>
          </a:p>
          <a:p xmlns:a="http://schemas.openxmlformats.org/drawingml/2006/main">
            <a:r>
              <a:t/>
            </a:r>
          </a:p>
          <a:p xmlns:a="http://schemas.openxmlformats.org/drawingml/2006/main">
            <a:r>
              <a:t>https://developer.apple.com/documentation/swiftui/navigationsplitview</a:t>
            </a:r>
          </a:p>
          <a:p xmlns:a="http://schemas.openxmlformats.org/drawingml/2006/main">
            <a:r>
              <a:t/>
            </a:r>
          </a:p>
          <a:p xmlns:a="http://schemas.openxmlformats.org/drawingml/2006/main">
            <a:r>
              <a:t>https://developer.apple.com/documentation/uikit/uisplitviewcontroller</a:t>
            </a:r>
          </a:p>
          <a:p xmlns:a="http://schemas.openxmlformats.org/drawingml/2006/main">
            <a:r>
              <a:t/>
            </a:r>
          </a:p>
          <a:p xmlns:a="http://schemas.openxmlformats.org/drawingml/2006/main">
            <a:r>
              <a:t>https://developer.apple.com/videos/play/tech-talks/111461/?time=301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WorkspaceControls and RecordCards are illustrative app-owned foreground views. SwiftUI foreground respects the safe area by default. ignoresSafeArea(.container) here applies only to the decorative color. UIKit Auto Layout should constrain foreground to safeAreaLayoutGuide; for manual layout update foregroundView.frame = view.bounds.inset(by: view.safeAreaInsets) during layout and backgroundView.frame = view.bounds. Do not double one side’s inset to calculate usable width. Layout margins can also be asymmetric and are distinct from safe areas. SafeAreaInset adds app-owned content while preserving the inset contract where appropriate. Test rotation, keyboard, RTL and both Split View positions. The provided image is Apple reference UI and the background behavior is implemented in DashboardView.</a:t>
            </a:r>
          </a:p>
          <a:p xmlns:a="http://schemas.openxmlformats.org/drawingml/2006/main">
            <a:r>
              <a:t/>
            </a:r>
          </a:p>
          <a:p xmlns:a="http://schemas.openxmlformats.org/drawingml/2006/main">
            <a:r>
              <a:t>https://developer.apple.com/documentation/swiftui/view/ignoressafearea(_:edges:)</a:t>
            </a:r>
          </a:p>
          <a:p xmlns:a="http://schemas.openxmlformats.org/drawingml/2006/main">
            <a:r>
              <a:t/>
            </a:r>
          </a:p>
          <a:p xmlns:a="http://schemas.openxmlformats.org/drawingml/2006/main">
            <a:r>
              <a:t>https://developer.apple.com/documentation/uikit/uiview/safearealayoutguide</a:t>
            </a:r>
          </a:p>
          <a:p xmlns:a="http://schemas.openxmlformats.org/drawingml/2006/main">
            <a:r>
              <a:t/>
            </a:r>
          </a:p>
          <a:p xmlns:a="http://schemas.openxmlformats.org/drawingml/2006/main">
            <a:r>
              <a:t>https://developer.apple.com/documentation/uikit/uiview/safeareainsets</a:t>
            </a:r>
          </a:p>
          <a:p xmlns:a="http://schemas.openxmlformats.org/drawingml/2006/main">
            <a:r>
              <a:t/>
            </a:r>
          </a:p>
          <a:p xmlns:a="http://schemas.openxmlformats.org/drawingml/2006/main">
            <a:r>
              <a:t>https://developer.apple.com/videos/play/tech-talks/111461/?time=427</a:t>
            </a:r>
          </a:p>
          <a:p xmlns:a="http://schemas.openxmlformats.org/drawingml/2006/main">
            <a:r>
              <a:t/>
            </a:r>
          </a:p>
          <a:p xmlns:a="http://schemas.openxmlformats.org/drawingml/2006/main">
            <a:r>
              <a:t>https://developer.apple.com/videos/play/tech-talks/111466/?time=393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excerpt condenses DashboardHeader alternatives. WorkItemCard separately uses multiline fixedSize for title and summary. layoutButtons, layoutControls, poseControl and decisionBadge are existing view properties; item belongs to WorkItemCard. The actual code also contains a Spacer in the row and a nested fitting alternative in the stacked path. The screenshot shows the old compression problem, not after-fix proof. The actual Dashboard also uses a compact menu in short windows. AdaptiveLayoutPolicy supplies accessibility fallbacks. Avoid blanket fixedSize on large views and provide scrollability for content that cannot fit vertically. Swift excerpts are condensed view-builder patterns. App-defined helper views/properties are identified in notes. They require the enclosing View and appropriate availability annotations. Source excerpts omit unrelated modifiers. New 27.1 APIs are beta and require a matching SDK. Apple visuals demonstrate the named behavior, not a Simulator run of this project.</a:t>
            </a:r>
          </a:p>
          <a:p xmlns:a="http://schemas.openxmlformats.org/drawingml/2006/main">
            <a:r>
              <a:t/>
            </a:r>
          </a:p>
          <a:p xmlns:a="http://schemas.openxmlformats.org/drawingml/2006/main">
            <a:r>
              <a:t>https://developer.apple.com/documentation/swiftui/viewthatfits</a:t>
            </a:r>
          </a:p>
          <a:p xmlns:a="http://schemas.openxmlformats.org/drawingml/2006/main">
            <a:r>
              <a:t/>
            </a:r>
          </a:p>
          <a:p xmlns:a="http://schemas.openxmlformats.org/drawingml/2006/main">
            <a:r>
              <a:t>https://developer.apple.com/documentation/swiftui/view/fixedsize(horizontal:vertical:)</a:t>
            </a:r>
          </a:p>
          <a:p xmlns:a="http://schemas.openxmlformats.org/drawingml/2006/main">
            <a:r>
              <a:t/>
            </a:r>
          </a:p>
          <a:p xmlns:a="http://schemas.openxmlformats.org/drawingml/2006/main">
            <a:r>
              <a:t>Source: Sources/Views/DashboardView.swift and Sources/Views/WorkItemCard.swift</a:t>
            </a:r>
          </a:p>
          <a:p xmlns:a="http://schemas.openxmlformats.org/drawingml/2006/main">
            <a:br/>
            <a:br/>
            <a:r>
              <a:t>Grid follow-up: LazyVGrid with GridItem(.adaptive(minimum: minWidth)) can size columns by a readable content width. Use @ScaledMetric for minWidth and a one-column branch for dynamicTypeSize.isAccessibilitySize. This is an optional adoption pattern, not the existing policy implementation. The app already preserves explicit List/Grid choices. The detailed guide includes the code. Source: https://developer.apple.com/documentation/swiftui/viewthatfits and https://developer.apple.com/documentation/swiftui/griditem/size-swift.enum/adaptive(minimum:maximum:)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SystemArrangementDemo.swift now contains native split axes, splitArrangementLayoutRatio(0.35), splitArrangementAxis diagnostics, and a separate overlay arrangement with overlayArrangementEdge and overlayArrangementZIndex. All records remain in primary. These are API Lab examples, not an automatic replacement of Workspace pose previews.</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https://developer.apple.com/documentation/swiftui/arrangementview</a:t>
            </a:r>
          </a:p>
          <a:p xmlns:a="http://schemas.openxmlformats.org/drawingml/2006/main">
            <a:r>
              <a:t>https://developer.apple.com/documentation/swiftui/view/splitarrangementlayoutratio(_:)</a:t>
            </a:r>
          </a:p>
          <a:p xmlns:a="http://schemas.openxmlformats.org/drawingml/2006/main">
            <a:r>
              <a:t>https://developer.apple.com/documentation/swiftui/overlayarrangementviewstyle</a:t>
            </a:r>
          </a:p>
          <a:p xmlns:a="http://schemas.openxmlformats.org/drawingml/2006/main">
            <a:r>
              <a:t>https://developer.apple.com/videos/play/tech-talks/111463/?time=799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SystemArrangementDemo.swift now provides NativeRegionAvoidanceDemo in addition to the region inspector. ReservedRegionPlacement.swift explicitly computes a fitting control rectangle around active intersecting division and occlusion frames and preserves a standard-toolbar Review route. Apple documents that ReservedRegion.frame already includes its interactive margins; do not expand them a second time. Seven focused geometry tests are included but have not run in Xcode. This slide excerpt shows the query/inspection stage.</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https://developer.apple.com/documentation/swiftui/geometryproxy/reservedregions(kind:options:layoutdirectionbehavior:)</a:t>
            </a:r>
          </a:p>
          <a:p xmlns:a="http://schemas.openxmlformats.org/drawingml/2006/main">
            <a:r>
              <a:t>https://developer.apple.com/documentation/swiftui/reservedregion</a:t>
            </a:r>
          </a:p>
          <a:p xmlns:a="http://schemas.openxmlformats.org/drawingml/2006/main">
            <a:r>
              <a:t>https://developer.apple.com/videos/play/tech-talks/111463/?time=500</a:t>
            </a:r>
          </a:p>
          <a:p xmlns:a="http://schemas.openxmlformats.org/drawingml/2006/main">
            <a:r>
              <a:t>https://developer.apple.com/videos/play/tech-talks/111466/?time=568</a:t>
            </a:r>
          </a:p>
          <a:p xmlns:a="http://schemas.openxmlformats.org/drawingml/2006/main">
            <a:r>
              <a:t>https://developer.apple.com/videos/play/tech-talks/111461/?time=488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LayoutAPIDemo.swift now uses ConcentricRectangle with a containing RoundedRectangle and inset slider. UIKitAPIDemo.swift uses UICornerConfiguration with fixed outer and container-concentric inner corners, plus older-OS fallbacks. Apple screenshot illustrates system geometry, not a fresh run of this project.</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https://developer.apple.com/documentation/swiftui/concentricrectangle</a:t>
            </a:r>
          </a:p>
          <a:p xmlns:a="http://schemas.openxmlformats.org/drawingml/2006/main">
            <a:r>
              <a:t>https://developer.apple.com/documentation/uikit/uicornerconfiguration-swift.struct</a:t>
            </a:r>
          </a:p>
          <a:p xmlns:a="http://schemas.openxmlformats.org/drawingml/2006/main">
            <a:r>
              <a:t>https://developer.apple.com/documentation/uikit/uicornerconfiguration-swift.struct/corners(radius:)</a:t>
            </a:r>
          </a:p>
          <a:p xmlns:a="http://schemas.openxmlformats.org/drawingml/2006/main">
            <a:r>
              <a:t>https://developer.apple.com/documentation/uikit/uicornerradius-swift.struct/containerconcentric(minimum:)</a:t>
            </a:r>
          </a:p>
          <a:p xmlns:a="http://schemas.openxmlformats.org/drawingml/2006/main">
            <a:r>
              <a:t>https://developer.apple.com/videos/play/tech-talks/111461/?time=274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ToolbarAPIDemo.swift now uses cancellationAction and topBarPinnedTrailing for working Close/Pin actions. UIKitToolbarAPIDemo.swift uses leadingItemGroups, trailingItemGroups, pinnedTrailingGroup, toolbarItems and UINavigationController.setToolbarHidden(false, animated:false). The illustrated Send callback remains an explanatory example; the app uses local Review, Pin, Sort, Add and Summary actions.</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https://developer.apple.com/documentation/swiftui/toolbaritemplacement/cancellationaction</a:t>
            </a:r>
          </a:p>
          <a:p xmlns:a="http://schemas.openxmlformats.org/drawingml/2006/main">
            <a:r>
              <a:t>https://developer.apple.com/documentation/swiftui/toolbaritemplacement/topbarpinnedtrailing</a:t>
            </a:r>
          </a:p>
          <a:p xmlns:a="http://schemas.openxmlformats.org/drawingml/2006/main">
            <a:r>
              <a:t>https://developer.apple.com/documentation/uikit/uinavigationitem/leadingitemgroups</a:t>
            </a:r>
          </a:p>
          <a:p xmlns:a="http://schemas.openxmlformats.org/drawingml/2006/main">
            <a:r>
              <a:t>https://developer.apple.com/documentation/uikit/uinavigationitem/pinnedtrailinggroup</a:t>
            </a:r>
          </a:p>
          <a:p xmlns:a="http://schemas.openxmlformats.org/drawingml/2006/main">
            <a:r>
              <a:t>https://developer.apple.com/documentation/uikit/uinavigationitem/leftitemssupplementbackbutton</a:t>
            </a:r>
          </a:p>
          <a:p xmlns:a="http://schemas.openxmlformats.org/drawingml/2006/main">
            <a:r>
              <a:t>https://developer.apple.com/videos/play/tech-talks/111462/?time=300</a:t>
            </a:r>
          </a:p>
          <a:p xmlns:a="http://schemas.openxmlformats.org/drawingml/2006/main">
            <a:r>
              <a:t>https://developer.apple.com/videos/play/tech-talks/111462/?time=324</a:t>
            </a:r>
          </a:p>
          <a:p xmlns:a="http://schemas.openxmlformats.org/drawingml/2006/main">
            <a:r>
              <a:t>https://developer.apple.com/videos/play/tech-talks/111462/?time=144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ToolbarAPIDemo.swift now calls ToolbarOverflowMenu, visibilityPriority and toolbarVerticalCompressionBehavior. Select preferences before opening the native session and observe competition between native tabs/actions. UIKitToolbarAPIDemo.swift demonstrates visibilityPriority, verticalBarCompressionBehavior, and additionalOverflowItems using UIDeferredMenuElement.uncached. The slide callbacks illustrate configuration; executable lab actions manipulate local records rather than exporting or resetting user data.</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https://developer.apple.com/documentation/swiftui/toolbarcontent/visibilitypriority(_:)</a:t>
            </a:r>
          </a:p>
          <a:p xmlns:a="http://schemas.openxmlformats.org/drawingml/2006/main">
            <a:r>
              <a:t>https://developer.apple.com/documentation/swiftui/toolbaroverflowmenu</a:t>
            </a:r>
          </a:p>
          <a:p xmlns:a="http://schemas.openxmlformats.org/drawingml/2006/main">
            <a:r>
              <a:t>https://developer.apple.com/documentation/swiftui/view/toolbarverticalcompressionbehavior(_:)</a:t>
            </a:r>
          </a:p>
          <a:p xmlns:a="http://schemas.openxmlformats.org/drawingml/2006/main">
            <a:r>
              <a:t>https://developer.apple.com/documentation/swiftui/toolbarverticalcompressionbehavior/preferstoolbaritems</a:t>
            </a:r>
          </a:p>
          <a:p xmlns:a="http://schemas.openxmlformats.org/drawingml/2006/main">
            <a:r>
              <a:t>https://developer.apple.com/documentation/uikit/uibarbuttonitem/visibilitypriority</a:t>
            </a:r>
          </a:p>
          <a:p xmlns:a="http://schemas.openxmlformats.org/drawingml/2006/main">
            <a:r>
              <a:t>https://developer.apple.com/documentation/uikit/uinavigationitem/verticalbarcompressionbehavior</a:t>
            </a:r>
          </a:p>
          <a:p xmlns:a="http://schemas.openxmlformats.org/drawingml/2006/main">
            <a:r>
              <a:t>https://developer.apple.com/documentation/uikit/uinavigationitem/additionaloverflowitems</a:t>
            </a:r>
          </a:p>
          <a:p xmlns:a="http://schemas.openxmlformats.org/drawingml/2006/main">
            <a:r>
              <a:t>https://developer.apple.com/videos/play/tech-talks/111462/?time=700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ToolbarAPIDemo.swift now calls axisBehavior, reads toolbarVerticalEdge and compacts a custom Review control. Toolbar vertical/minimization preferences are selectable at session launch. UIKitToolbarAPIDemo.swift uses UIBarButtonItem.axisBehavior and traitCollection.verticalBarEdge. The edge denotes a supported preferred context, not current visibility. All actions retain a content route.</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https://developer.apple.com/documentation/swiftui/environmentvalues/toolbarverticaledge</a:t>
            </a:r>
          </a:p>
          <a:p xmlns:a="http://schemas.openxmlformats.org/drawingml/2006/main">
            <a:r>
              <a:t>https://developer.apple.com/documentation/swiftui/toolbarcontent/axisbehavior(_:)</a:t>
            </a:r>
          </a:p>
          <a:p xmlns:a="http://schemas.openxmlformats.org/drawingml/2006/main">
            <a:r>
              <a:t>https://developer.apple.com/documentation/swiftui/label</a:t>
            </a:r>
          </a:p>
          <a:p xmlns:a="http://schemas.openxmlformats.org/drawingml/2006/main">
            <a:r>
              <a:t>https://developer.apple.com/documentation/uikit/uitraitcollection/verticalbaredge</a:t>
            </a:r>
          </a:p>
          <a:p xmlns:a="http://schemas.openxmlformats.org/drawingml/2006/main">
            <a:r>
              <a:t>https://developer.apple.com/documentation/uikit/uiverticalbaredge</a:t>
            </a:r>
          </a:p>
          <a:p xmlns:a="http://schemas.openxmlformats.org/drawingml/2006/main">
            <a:r>
              <a:t>https://developer.apple.com/videos/play/tech-talks/111462/?time=607</a:t>
            </a:r>
          </a:p>
          <a:p xmlns:a="http://schemas.openxmlformats.org/drawingml/2006/main">
            <a:r>
              <a:t>https://developer.apple.com/videos/play/tech-talks/111462/?time=636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PresentationAPIDemo.swift now provides a working sheet with presentationDetents, popover, alert and menu. Draft state belongs to the presenting view. ToolbarAPIDemo.swift separately demonstrates toolbarVerticalBehavior preferences. Native system geometry determines physical placement.</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https://developer.apple.com/documentation/swiftui/view/sheet(ispresented:ondismiss:content:)</a:t>
            </a:r>
          </a:p>
          <a:p xmlns:a="http://schemas.openxmlformats.org/drawingml/2006/main">
            <a:r>
              <a:t>https://developer.apple.com/documentation/swiftui/view/presentationdetents(_:)</a:t>
            </a:r>
          </a:p>
          <a:p xmlns:a="http://schemas.openxmlformats.org/drawingml/2006/main">
            <a:r>
              <a:t>https://developer.apple.com/documentation/swiftui/view/toolbarverticalbehavior(_:)</a:t>
            </a:r>
          </a:p>
          <a:p xmlns:a="http://schemas.openxmlformats.org/drawingml/2006/main">
            <a:r>
              <a:t>https://developer.apple.com/videos/play/tech-talks/111466/?time=564</a:t>
            </a:r>
          </a:p>
          <a:p xmlns:a="http://schemas.openxmlformats.org/drawingml/2006/main">
            <a:r>
              <a:t>https://developer.apple.com/videos/play/tech-talks/111466/?time=568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Apple renamed the app modernization skill to App Resizability in Xcode27.1 and expanded it to SwiftUI and iPhone Duo. The supplied screenshot is from Prepare your app for iPhone Duo and demonstrates replacing UIScreen.main.scale with traitCollection.displayScale inside a view/controller context. This is a development-time source-change workflow, not a SwiftUI runtime modifier. In Xcode Coding Assistant choose the available App Resizability skill and ask it to review AdaptiveDuoLab.xcworkspace. Review changes, build the baseline/native paths, and validate resize transitions. The bundled Apple skill was not executed here. The included Docs/Apple_App_Resizability_Workflow.md provides the whole-workspace prompt and export guidance.</a:t>
            </a:r>
          </a:p>
          <a:p xmlns:a="http://schemas.openxmlformats.org/drawingml/2006/main">
            <a:r>
              <a:t/>
            </a:r>
          </a:p>
          <a:p xmlns:a="http://schemas.openxmlformats.org/drawingml/2006/main">
            <a:r>
              <a:t>Sources: https://developer.apple.com/videos/play/tech-talks/111461/?time=552 and https://developer.apple.com/videos/play/wwdc2026/278/?time=847</a:t>
            </a:r>
          </a:p>
          <a:p xmlns:a="http://schemas.openxmlformats.org/drawingml/2006/main">
            <a:r>
              <a:t/>
            </a:r>
          </a:p>
          <a:p xmlns:a="http://schemas.openxmlformats.org/drawingml/2006/main">
            <a:r>
              <a:t>Screenshot supplied by the user: Screenshot 2026-09-26 at 11.15.13 AM.png. No speaker names appear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now has 25 API catalog entries and eight interactive routes. All original 16 catalog entries have source calls; onHingeChange remains an intentional diagnostic rather than a navigation trigger. CameraAPIDemo.swift includes user-started rear-camera preview and an optional CameraCaptureAccessory via sceneAccessory. Camera permission and accessory availability remain required. The native path is behind DUO_SDK and iOS27.1 checks. Swift grammar, package membership and scripts are checked here; no Xcode compilation, Swift tests, Simulator execution or bundled Apple skill execution occurred.</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https://developer.apple.com/documentation/swiftui/anylayout</a:t>
            </a:r>
          </a:p>
          <a:p xmlns:a="http://schemas.openxmlformats.org/drawingml/2006/main">
            <a:r>
              <a:t>https://developer.apple.com/documentation/swiftui/view/id(_:)</a:t>
            </a:r>
          </a:p>
          <a:p xmlns:a="http://schemas.openxmlformats.org/drawingml/2006/main">
            <a:r>
              <a:t>https://developer.apple.com/videos/play/tech-talks/111461/?time=552</a:t>
            </a:r>
          </a:p>
          <a:p xmlns:a="http://schemas.openxmlformats.org/drawingml/2006/main">
            <a:r>
              <a:t>https://developer.apple.com/videos/play/wwdc2026/278/</a:t>
            </a:r>
          </a:p>
          <a:p xmlns:a="http://schemas.openxmlformats.org/drawingml/2006/main">
            <a:r>
              <a:t>https://developer.apple.com/videos/play/wwdc2026/269/</a:t>
            </a:r>
          </a:p>
          <a:p xmlns:a="http://schemas.openxmlformats.org/drawingml/2006/main">
            <a:r>
              <a:t>https://developer.apple.com/videos/play/wwdc2026/8003/</a:t>
            </a:r>
          </a:p>
          <a:p xmlns:a="http://schemas.openxmlformats.org/drawingml/2006/main">
            <a:r>
              <a:t>https://developer.apple.com/videos/play/wwdc2025/306/</a:t>
            </a:r>
          </a:p>
          <a:p xmlns:a="http://schemas.openxmlformats.org/drawingml/2006/main">
            <a:r>
              <a:t>https://developer.apple.com/videos/play/wwdc2025/266/</a:t>
            </a:r>
          </a:p>
          <a:p xmlns:a="http://schemas.openxmlformats.org/drawingml/2006/main">
            <a:r>
              <a:t>https://developer.apple.com/documentation/xcode/understanding-and-improving-swiftui-performance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Presenter: Somendra.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676854b9da4e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19509f8f6e4f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4332e82db647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37d3ef05e54e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d65e36641143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12e747df5d47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ff3fb190ced4b9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789bea660f74d1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7abad731a75477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74ce78df17b42a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fe72a7b3a0a444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392606-1057-407B-811F-4C5F923768A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6372E41-36F5-4778-A8AA-10E485E7997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A988532-376D-4D22-B02C-5FCD278204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42FBEB8-7D06-4A8A-B9D1-784E57847E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8D99A6-2297-41ED-A0F7-87D7B2DEFD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18CC32-45BE-4F42-85EE-3FE3C5A3FF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CEBFEB8-4E92-4868-B916-CCD89D5587F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8F9F2D5-B297-4C41-9173-327F9AB596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A9BDFB-9B59-4C78-9EC9-F6F25BD24A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105ED7-6A91-4243-B3CB-C6C4189D08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C141E5-A077-427C-82C0-9FFBDE1EC42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34B1B5D-EA1C-4260-9036-9B7FE13159C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2153FC2-3D75-4256-AAF7-E29AEE2CB1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B540A82-6109-4EEA-B028-B83837AC27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88709D3-4205-4766-827B-68DB7C69BB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369327-E9E5-4176-AFEF-4F2B777D6A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1306406-5BA2-4B2C-8544-258677D9CC6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9642A6B-E5BA-4437-AC2E-F57844ADF9A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3C14A2D-FB9A-48E9-9165-8E02F466C9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FD77684-6AC6-471B-97D3-5C0876E412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1E08C6B-99BC-4811-8434-112A8EE8F5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DB207E-5161-4648-A5FE-B806B81C74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3F2BD1A-0B76-40AA-81E9-3C7A0507ADD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9F59AAB-8E8B-433B-A544-F5816445325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3B55A00-D1D1-4B5E-8EA9-9934E47C5B6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DC2CDD9-701A-471F-B95F-F004D0D4EB7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12D988E-BB62-4FE6-A6F5-2F81D0F2B0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6C84C73C-F390-4EBA-84DB-D1E05FE2A6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479EA4F-1C61-4265-9B17-8BC56FD60F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0474D5-B13C-43DD-BC52-570D26D14C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ADCB0D14-16FE-464D-B61A-DF827C7811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7DEC6752-CB7A-4986-BBEA-38C912D2DF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2D3E207-31FA-45D5-B5FA-5C1DA031C7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3367E9D-D427-4EEA-92F7-C459D31D7F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BA2FBBF7-5EB1-48B9-B354-FEBE659343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81D512C-8E47-49AD-8016-B33DD9055F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7C29FF-CAC1-40CF-A690-7AEFA2BC767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596D2A4-2B64-4DEA-8F97-BEEB0AF6BB53}"/>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D32BD98-A2CD-41D8-9A1E-AFBAA916F71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61985F1-175B-4C46-9329-5DE1215C45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5E7EAED8-A750-440C-B31E-91D2A2214E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46E5171-80FE-4078-8508-C56E99A99C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052429-3029-4F14-B7E5-BB9079BB3A3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47BAA58D-14B4-4BA5-BB5D-CF9752B7247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79A5061-4A4A-4F1A-8CCD-AE96675F80C8}"/>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38F7B23-98B0-4292-AAD1-6E0D652BD5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AA75E47-F030-4B63-911E-5477EAC03C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10FEDE1-AB9B-4A2E-989D-277D0DC960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188AFC-42EE-405D-89C6-9C902B5FCD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956D698-2488-4A9F-92B6-222429FC5CB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46E8C6E-4A0D-4340-9294-CABC62FDD3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3231C1D-A372-45E4-9B1A-5D4D0F8A05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D8201FF-5348-426F-AD1C-AFADE65FB9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4303E00-9DB0-4C7B-9EFA-8FB67E1394A4}"/>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BA4520E-F7C7-4C0F-BB59-F27FB09CE49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D3EFB92-C3DE-44EF-8266-CC1F584B8A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87D173A-703E-4499-BACF-26E561E1BE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DCFE47E-8D4E-4D3A-B050-7AEE4A79C7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5b0a318ef84cf3" /><Relationship Type="http://schemas.openxmlformats.org/officeDocument/2006/relationships/slideLayout" Target="/ppt/slideLayouts/slideLayout1.xml" Id="R9adcb9e24ec04070" /><Relationship Type="http://schemas.openxmlformats.org/officeDocument/2006/relationships/slideLayout" Target="/ppt/slideLayouts/slideLayout2.xml" Id="R6e7e87f98da74994" /><Relationship Type="http://schemas.openxmlformats.org/officeDocument/2006/relationships/slideLayout" Target="/ppt/slideLayouts/slideLayout3.xml" Id="Rc9468a49a3f44a2b" /><Relationship Type="http://schemas.openxmlformats.org/officeDocument/2006/relationships/slideLayout" Target="/ppt/slideLayouts/slideLayout4.xml" Id="R5ce2af7a4ebb4424" /><Relationship Type="http://schemas.openxmlformats.org/officeDocument/2006/relationships/slideLayout" Target="/ppt/slideLayouts/slideLayout5.xml" Id="R1a8629858d474401" /><Relationship Type="http://schemas.openxmlformats.org/officeDocument/2006/relationships/slideLayout" Target="/ppt/slideLayouts/slideLayout6.xml" Id="R5e9f6d68831a4f18" /><Relationship Type="http://schemas.openxmlformats.org/officeDocument/2006/relationships/slideLayout" Target="/ppt/slideLayouts/slideLayout7.xml" Id="R304280f111d44f49" /><Relationship Type="http://schemas.openxmlformats.org/officeDocument/2006/relationships/slideLayout" Target="/ppt/slideLayouts/slideLayout8.xml" Id="Rc073897e13e44c33" /><Relationship Type="http://schemas.openxmlformats.org/officeDocument/2006/relationships/slideLayout" Target="/ppt/slideLayouts/slideLayout9.xml" Id="Rcbec7f52f8a64a5a" /><Relationship Type="http://schemas.openxmlformats.org/officeDocument/2006/relationships/slideLayout" Target="/ppt/slideLayouts/slideLayout10.xml" Id="R294967bff6a14fc0" /><Relationship Type="http://schemas.openxmlformats.org/officeDocument/2006/relationships/slideLayout" Target="/ppt/slideLayouts/slideLayout11.xml" Id="R490d7b434a3d4da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036D6B2-76B7-4293-9787-C8EB4C4DD54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8576325-20A8-4A29-B7BC-9BA080F743E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C2A2C56-A06B-41F4-A7C8-63AF98751655}"/>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7E269FA-500B-48D9-B6D0-AF5D467913A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D4DA5C5-1BF5-405B-8FB0-2100B62F2DF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dcb9e24ec04070"/>
    <p:sldLayoutId xmlns:r="http://schemas.openxmlformats.org/officeDocument/2006/relationships" id="2147483650" r:id="R6e7e87f98da74994"/>
    <p:sldLayoutId xmlns:r="http://schemas.openxmlformats.org/officeDocument/2006/relationships" id="2147483651" r:id="Rc9468a49a3f44a2b"/>
    <p:sldLayoutId xmlns:r="http://schemas.openxmlformats.org/officeDocument/2006/relationships" id="2147483652" r:id="R5ce2af7a4ebb4424"/>
    <p:sldLayoutId xmlns:r="http://schemas.openxmlformats.org/officeDocument/2006/relationships" id="2147483653" r:id="R1a8629858d474401"/>
    <p:sldLayoutId xmlns:r="http://schemas.openxmlformats.org/officeDocument/2006/relationships" id="2147483654" r:id="R5e9f6d68831a4f18"/>
    <p:sldLayoutId xmlns:r="http://schemas.openxmlformats.org/officeDocument/2006/relationships" id="2147483655" r:id="R304280f111d44f49"/>
    <p:sldLayoutId xmlns:r="http://schemas.openxmlformats.org/officeDocument/2006/relationships" id="2147483656" r:id="Rc073897e13e44c33"/>
    <p:sldLayoutId xmlns:r="http://schemas.openxmlformats.org/officeDocument/2006/relationships" id="2147483657" r:id="Rcbec7f52f8a64a5a"/>
    <p:sldLayoutId xmlns:r="http://schemas.openxmlformats.org/officeDocument/2006/relationships" id="2147483658" r:id="R294967bff6a14fc0"/>
    <p:sldLayoutId xmlns:r="http://schemas.openxmlformats.org/officeDocument/2006/relationships" id="2147483659" r:id="R490d7b434a3d4da3"/>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6bc8c0f0a84d8c" /><Relationship Type="http://schemas.openxmlformats.org/officeDocument/2006/relationships/notesSlide" Target="/ppt/notesSlides/notesSlide1.xml" Id="Raf3663bb8bdc4b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55b69188d742c7" /><Relationship Type="http://schemas.openxmlformats.org/officeDocument/2006/relationships/image" Target="/ppt/media/image.png" Id="Rb03d472144b94e59" /><Relationship Type="http://schemas.openxmlformats.org/officeDocument/2006/relationships/image" Target="/ppt/media/image2.png" Id="R48069f84a99c49f1" /><Relationship Type="http://schemas.openxmlformats.org/officeDocument/2006/relationships/notesSlide" Target="/ppt/notesSlides/notesSlide2.xml" Id="R12ad195a271343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1b5f6fbdbf4529" /><Relationship Type="http://schemas.openxmlformats.org/officeDocument/2006/relationships/image" Target="/ppt/media/image3.png" Id="R41be3dfdc4314ca9" /><Relationship Type="http://schemas.openxmlformats.org/officeDocument/2006/relationships/image" Target="/ppt/media/image4.png" Id="Recb6cf773cf04275" /><Relationship Type="http://schemas.openxmlformats.org/officeDocument/2006/relationships/notesSlide" Target="/ppt/notesSlides/notesSlide3.xml" Id="R008e4fc5602343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f8f7861bad48f3" /><Relationship Type="http://schemas.openxmlformats.org/officeDocument/2006/relationships/image" Target="/ppt/media/image5.png" Id="R7395786596fa4bf7" /><Relationship Type="http://schemas.openxmlformats.org/officeDocument/2006/relationships/image" Target="/ppt/media/image6.png" Id="R3364d4c6b06a4f95" /><Relationship Type="http://schemas.openxmlformats.org/officeDocument/2006/relationships/notesSlide" Target="/ppt/notesSlides/notesSlide4.xml" Id="R0b6143e570724b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e8f12d46534ff2" /><Relationship Type="http://schemas.openxmlformats.org/officeDocument/2006/relationships/image" Target="/ppt/media/image7.png" Id="R458472b1d3e040dc" /><Relationship Type="http://schemas.openxmlformats.org/officeDocument/2006/relationships/notesSlide" Target="/ppt/notesSlides/notesSlide5.xml" Id="R7cd7a08717104a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bb9ffc99574772" /><Relationship Type="http://schemas.openxmlformats.org/officeDocument/2006/relationships/image" Target="/ppt/media/image8.png" Id="R3be53dc64cbf4204" /><Relationship Type="http://schemas.openxmlformats.org/officeDocument/2006/relationships/notesSlide" Target="/ppt/notesSlides/notesSlide6.xml" Id="R52d558ac023c4d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d180d86a104de8" /><Relationship Type="http://schemas.openxmlformats.org/officeDocument/2006/relationships/image" Target="/ppt/media/image9.png" Id="R85924337ef66461e" /><Relationship Type="http://schemas.openxmlformats.org/officeDocument/2006/relationships/notesSlide" Target="/ppt/notesSlides/notesSlide7.xml" Id="Rc843756ebcf845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55ff0649ae14f74" /><Relationship Type="http://schemas.openxmlformats.org/officeDocument/2006/relationships/image" Target="/ppt/media/image10.png" Id="R83dacbef69aa43db" /><Relationship Type="http://schemas.openxmlformats.org/officeDocument/2006/relationships/notesSlide" Target="/ppt/notesSlides/notesSlide8.xml" Id="R6082477a815442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c48f24605f4193" /><Relationship Type="http://schemas.openxmlformats.org/officeDocument/2006/relationships/image" Target="/ppt/media/image11.png" Id="R0bfade7050494e59" /><Relationship Type="http://schemas.openxmlformats.org/officeDocument/2006/relationships/notesSlide" Target="/ppt/notesSlides/notesSlide9.xml" Id="Reee1ed43fe124c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478db160a44d92" /><Relationship Type="http://schemas.openxmlformats.org/officeDocument/2006/relationships/image" Target="/ppt/media/image12.png" Id="R1f9ef74334b049c5" /><Relationship Type="http://schemas.openxmlformats.org/officeDocument/2006/relationships/notesSlide" Target="/ppt/notesSlides/notesSlide10.xml" Id="R3cc5a4c958b643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dff46e82bd4a8c" /><Relationship Type="http://schemas.openxmlformats.org/officeDocument/2006/relationships/image" Target="/ppt/media/image13.png" Id="R6e76bc0c453c4943" /><Relationship Type="http://schemas.openxmlformats.org/officeDocument/2006/relationships/image" Target="/ppt/media/image14.png" Id="R93ef61b899bd480c" /><Relationship Type="http://schemas.openxmlformats.org/officeDocument/2006/relationships/notesSlide" Target="/ppt/notesSlides/notesSlide11.xml" Id="R30b22378c4b44f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93019f5d4b420f" /><Relationship Type="http://schemas.openxmlformats.org/officeDocument/2006/relationships/image" Target="/ppt/media/image15.png" Id="Ra401f46418c94a75" /><Relationship Type="http://schemas.openxmlformats.org/officeDocument/2006/relationships/notesSlide" Target="/ppt/notesSlides/notesSlide12.xml" Id="R87809bb9988644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f7407be13b4d2a" /><Relationship Type="http://schemas.openxmlformats.org/officeDocument/2006/relationships/image" Target="/ppt/media/image16.png" Id="R94e9095140fc4ce4" /><Relationship Type="http://schemas.openxmlformats.org/officeDocument/2006/relationships/notesSlide" Target="/ppt/notesSlides/notesSlide13.xml" Id="R2e7856175e594c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e5e4ebf2844d8b" /><Relationship Type="http://schemas.openxmlformats.org/officeDocument/2006/relationships/image" Target="/ppt/media/image17.png" Id="R070d45fc1d174ca1" /><Relationship Type="http://schemas.openxmlformats.org/officeDocument/2006/relationships/notesSlide" Target="/ppt/notesSlides/notesSlide14.xml" Id="R8e36336305a04b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268391899c4821" /><Relationship Type="http://schemas.openxmlformats.org/officeDocument/2006/relationships/image" Target="/ppt/media/image18.png" Id="R69dae733defb4f7c" /><Relationship Type="http://schemas.openxmlformats.org/officeDocument/2006/relationships/notesSlide" Target="/ppt/notesSlides/notesSlide15.xml" Id="R15eeaa7a9be743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4e483ace7d042c8" /><Relationship Type="http://schemas.openxmlformats.org/officeDocument/2006/relationships/notesSlide" Target="/ppt/notesSlides/notesSlide16.xml" Id="R8d0734330f25449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6bc4597c62c460b" /><Relationship Type="http://schemas.openxmlformats.org/officeDocument/2006/relationships/notesSlide" Target="/ppt/notesSlides/notesSlide17.xml" Id="R9b71ffccfa1d43b4" /></Relationships>
</file>

<file path=ppt/slides/slide1.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5D25EF-ADDA-4F6F-8BC3-2BD8794AC165}"/>
              </a:ext>
            </a:extLst>
          </p:cNvPr>
          <p:cNvSpPr>
            <a:spLocks xmlns:a="http://schemas.openxmlformats.org/drawingml/2006/main" noGrp="1"/>
          </p:cNvSpPr>
          <p:nvPr/>
        </p:nvSpPr>
        <p:spPr>
          <a:xfrm xmlns:a="http://schemas.openxmlformats.org/drawingml/2006/main">
            <a:off x="1066800" y="1181100"/>
            <a:ext cx="100584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650" b="1">
                <a:solidFill>
                  <a:srgbClr val="10172A"/>
                </a:solidFill>
                <a:latin typeface="Arial"/>
                <a:ea typeface="Arial"/>
                <a:cs typeface="Arial"/>
              </a:defRPr>
            </a:pPr>
            <a:r>
              <a:rPr sz="4650" b="1">
                <a:solidFill>
                  <a:srgbClr val="10172A"/>
                </a:solidFill>
                <a:latin typeface="Arial"/>
                <a:ea typeface="Arial"/>
                <a:cs typeface="Arial"/>
              </a:rPr>
              <a:t>Adaptive layout</a:t>
            </a:r>
          </a:p>
          <a:p xmlns:a="http://schemas.openxmlformats.org/drawingml/2006/main">
            <a:pPr>
              <a:buNone/>
              <a:defRPr sz="4650" b="1">
                <a:solidFill>
                  <a:srgbClr val="10172A"/>
                </a:solidFill>
                <a:latin typeface="Arial"/>
                <a:ea typeface="Arial"/>
                <a:cs typeface="Arial"/>
              </a:defRPr>
            </a:pPr>
            <a:r>
              <a:rPr sz="4650" b="1">
                <a:solidFill>
                  <a:srgbClr val="10172A"/>
                </a:solidFill>
                <a:latin typeface="Arial"/>
                <a:ea typeface="Arial"/>
                <a:cs typeface="Arial"/>
              </a:rPr>
              <a:t>for iPhone Duo</a:t>
            </a:r>
          </a:p>
        </p:txBody>
      </p:sp>
      <p:sp>
        <p:nvSpPr>
          <p:cNvPr id="2" name="">
            <a:extLst xmlns:a="http://schemas.openxmlformats.org/drawingml/2006/main">
              <a:ext uri="{FF2B5EF4-FFF2-40B4-BE49-F238E27FC236}">
                <a16:creationId xmlns:a16="http://schemas.microsoft.com/office/drawing/2014/main" id="{97911982-35B9-4733-9F80-0DD1D7C0F7DB}"/>
              </a:ext>
            </a:extLst>
          </p:cNvPr>
          <p:cNvSpPr>
            <a:spLocks xmlns:a="http://schemas.openxmlformats.org/drawingml/2006/main" noGrp="1"/>
          </p:cNvSpPr>
          <p:nvPr/>
        </p:nvSpPr>
        <p:spPr>
          <a:xfrm xmlns:a="http://schemas.openxmlformats.org/drawingml/2006/main">
            <a:off x="1114425" y="3200400"/>
            <a:ext cx="10010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46516B"/>
                </a:solidFill>
                <a:latin typeface="Arial"/>
                <a:ea typeface="Arial"/>
                <a:cs typeface="Arial"/>
              </a:defRPr>
            </a:pPr>
            <a:r>
              <a:rPr sz="2100" b="0">
                <a:solidFill>
                  <a:srgbClr val="46516B"/>
                </a:solidFill>
                <a:latin typeface="Arial"/>
                <a:ea typeface="Arial"/>
                <a:cs typeface="Arial"/>
              </a:rPr>
              <a:t>Adapting an existing app with SwiftUI and UIKit</a:t>
            </a:r>
          </a:p>
        </p:txBody>
      </p:sp>
      <p:sp>
        <p:nvSpPr>
          <p:cNvPr id="3" name="">
            <a:extLst xmlns:a="http://schemas.openxmlformats.org/drawingml/2006/main">
              <a:ext uri="{FF2B5EF4-FFF2-40B4-BE49-F238E27FC236}">
                <a16:creationId xmlns:a16="http://schemas.microsoft.com/office/drawing/2014/main" id="{E0A5C893-DB92-4664-9034-D2B7E1A0B4F9}"/>
              </a:ext>
            </a:extLst>
          </p:cNvPr>
          <p:cNvSpPr>
            <a:spLocks xmlns:a="http://schemas.openxmlformats.org/drawingml/2006/main" noGrp="1"/>
          </p:cNvSpPr>
          <p:nvPr/>
        </p:nvSpPr>
        <p:spPr>
          <a:xfrm xmlns:a="http://schemas.openxmlformats.org/drawingml/2006/main">
            <a:off x="1114425" y="4210050"/>
            <a:ext cx="10010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5B4EE5"/>
                </a:solidFill>
                <a:latin typeface="Arial"/>
                <a:ea typeface="Arial"/>
                <a:cs typeface="Arial"/>
              </a:defRPr>
            </a:pPr>
            <a:r>
              <a:rPr sz="2250" b="0">
                <a:solidFill>
                  <a:srgbClr val="5B4EE5"/>
                </a:solidFill>
                <a:latin typeface="Arial"/>
                <a:ea typeface="Arial"/>
                <a:cs typeface="Arial"/>
              </a:rPr>
              <a:t>Somendra</a:t>
            </a:r>
          </a:p>
        </p:txBody>
      </p:sp>
      <p:sp>
        <p:nvSpPr>
          <p:cNvPr id="4" name="">
            <a:extLst xmlns:a="http://schemas.openxmlformats.org/drawingml/2006/main">
              <a:ext uri="{FF2B5EF4-FFF2-40B4-BE49-F238E27FC236}">
                <a16:creationId xmlns:a16="http://schemas.microsoft.com/office/drawing/2014/main" id="{CC2D8628-A934-4F3B-9F23-A637EA4192AB}"/>
              </a:ext>
            </a:extLst>
          </p:cNvPr>
          <p:cNvSpPr>
            <a:spLocks xmlns:a="http://schemas.openxmlformats.org/drawingml/2006/main" noGrp="1"/>
          </p:cNvSpPr>
          <p:nvPr/>
        </p:nvSpPr>
        <p:spPr>
          <a:xfrm xmlns:a="http://schemas.openxmlformats.org/drawingml/2006/main">
            <a:off x="1114425" y="5238750"/>
            <a:ext cx="100107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46516B"/>
                </a:solidFill>
                <a:latin typeface="Arial"/>
                <a:ea typeface="Arial"/>
                <a:cs typeface="Arial"/>
              </a:defRPr>
            </a:pPr>
            <a:r>
              <a:rPr sz="1875" b="0">
                <a:solidFill>
                  <a:srgbClr val="46516B"/>
                </a:solidFill>
                <a:latin typeface="Arial"/>
                <a:ea typeface="Arial"/>
                <a:cs typeface="Arial"/>
              </a:rPr>
              <a:t>Make layouts fit changing screens while keeping</a:t>
            </a:r>
          </a:p>
          <a:p xmlns:a="http://schemas.openxmlformats.org/drawingml/2006/main">
            <a:pPr>
              <a:buNone/>
              <a:defRPr sz="1875" b="0">
                <a:solidFill>
                  <a:srgbClr val="46516B"/>
                </a:solidFill>
                <a:latin typeface="Arial"/>
                <a:ea typeface="Arial"/>
                <a:cs typeface="Arial"/>
              </a:defRPr>
            </a:pPr>
            <a:r>
              <a:rPr sz="1875" b="0">
                <a:solidFill>
                  <a:srgbClr val="46516B"/>
                </a:solidFill>
                <a:latin typeface="Arial"/>
                <a:ea typeface="Arial"/>
                <a:cs typeface="Arial"/>
              </a:rPr>
              <a:t>content, controls and state consistent.</a:t>
            </a:r>
          </a:p>
        </p:txBody>
      </p:sp>
    </p:spTree>
    <p:extLst>
      <p:ext uri="{BB962C8B-B14F-4D97-AF65-F5344CB8AC3E}">
        <p14:creationId xmlns:p14="http://schemas.microsoft.com/office/powerpoint/2010/main" val="985095126"/>
      </p:ext>
    </p:extLst>
  </p:cSld>
</p:sld>
</file>

<file path=ppt/slides/slide2.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4E7EAB-382E-495B-A8F7-ACBFE50C1E0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Adaptive layout for iPhone Duo</a:t>
            </a:r>
          </a:p>
        </p:txBody>
      </p:sp>
      <p:sp>
        <p:nvSpPr>
          <p:cNvPr id="2" name="">
            <a:extLst xmlns:a="http://schemas.openxmlformats.org/drawingml/2006/main">
              <a:ext uri="{FF2B5EF4-FFF2-40B4-BE49-F238E27FC236}">
                <a16:creationId xmlns:a16="http://schemas.microsoft.com/office/drawing/2014/main" id="{7501224F-2435-4665-AE19-53516D25C2D5}"/>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F855EB-7C56-409C-939C-34F2E1BD950D}"/>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SwiftUI and UIKit APIs for an existing app that resizes without losing the user’s task.</a:t>
            </a:r>
          </a:p>
        </p:txBody>
      </p:sp>
      <p:sp>
        <p:nvSpPr>
          <p:cNvPr id="4" name="">
            <a:extLst xmlns:a="http://schemas.openxmlformats.org/drawingml/2006/main">
              <a:ext uri="{FF2B5EF4-FFF2-40B4-BE49-F238E27FC236}">
                <a16:creationId xmlns:a16="http://schemas.microsoft.com/office/drawing/2014/main" id="{84732D94-3326-4281-87D5-7CAB442D49E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3CBDCDD-8143-4989-AF0B-A32C5B9B462C}"/>
              </a:ext>
            </a:extLst>
          </p:cNvPr>
          <p:cNvSpPr>
            <a:spLocks xmlns:a="http://schemas.openxmlformats.org/drawingml/2006/main" noGrp="1"/>
          </p:cNvSpPr>
          <p:nvPr/>
        </p:nvSpPr>
        <p:spPr>
          <a:xfrm xmlns:a="http://schemas.openxmlformats.org/drawingml/2006/main">
            <a:off x="590550" y="1447800"/>
            <a:ext cx="266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Project: narrow</a:t>
            </a:r>
          </a:p>
        </p:txBody>
      </p:sp>
      <p:sp>
        <p:nvSpPr>
          <p:cNvPr id="6" name="">
            <a:extLst xmlns:a="http://schemas.openxmlformats.org/drawingml/2006/main">
              <a:ext uri="{FF2B5EF4-FFF2-40B4-BE49-F238E27FC236}">
                <a16:creationId xmlns:a16="http://schemas.microsoft.com/office/drawing/2014/main" id="{A47F2EBA-88A2-4871-9BD5-5FA8B62EA553}"/>
              </a:ext>
            </a:extLst>
          </p:cNvPr>
          <p:cNvSpPr>
            <a:spLocks xmlns:a="http://schemas.openxmlformats.org/drawingml/2006/main" noGrp="1"/>
          </p:cNvSpPr>
          <p:nvPr/>
        </p:nvSpPr>
        <p:spPr>
          <a:xfrm xmlns:a="http://schemas.openxmlformats.org/drawingml/2006/main">
            <a:off x="3524250" y="1447800"/>
            <a:ext cx="504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Project: wide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03d472144b94e59"/>
          <a:srcRect xmlns:a="http://schemas.openxmlformats.org/drawingml/2006/main" l="0" t="13916" r="0" b="25049"/>
          <a:stretch xmlns:a="http://schemas.openxmlformats.org/drawingml/2006/main"/>
        </p:blipFill>
        <p:spPr>
          <a:xfrm xmlns:a="http://schemas.openxmlformats.org/drawingml/2006/main">
            <a:off x="590550" y="1926194"/>
            <a:ext cx="2667000" cy="3539013"/>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8069f84a99c49f1"/>
          <a:srcRect xmlns:a="http://schemas.openxmlformats.org/drawingml/2006/main" l="0" t="0" r="0" b="50658"/>
          <a:stretch xmlns:a="http://schemas.openxmlformats.org/drawingml/2006/main"/>
        </p:blipFill>
        <p:spPr>
          <a:xfrm xmlns:a="http://schemas.openxmlformats.org/drawingml/2006/main">
            <a:off x="3524250" y="2035091"/>
            <a:ext cx="5048250" cy="332121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A72D599-824B-45BF-9534-E6D8C0B88907}"/>
              </a:ext>
            </a:extLst>
          </p:cNvPr>
          <p:cNvSpPr>
            <a:spLocks xmlns:a="http://schemas.openxmlformats.org/drawingml/2006/main" noGrp="1"/>
          </p:cNvSpPr>
          <p:nvPr/>
        </p:nvSpPr>
        <p:spPr>
          <a:xfrm xmlns:a="http://schemas.openxmlformats.org/drawingml/2006/main">
            <a:off x="8896350" y="19431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Layout problem</a:t>
            </a:r>
          </a:p>
        </p:txBody>
      </p:sp>
      <p:sp>
        <p:nvSpPr>
          <p:cNvPr id="10" name="">
            <a:extLst xmlns:a="http://schemas.openxmlformats.org/drawingml/2006/main">
              <a:ext uri="{FF2B5EF4-FFF2-40B4-BE49-F238E27FC236}">
                <a16:creationId xmlns:a16="http://schemas.microsoft.com/office/drawing/2014/main" id="{433E3F57-4481-489B-82DD-845ED0BF4E1C}"/>
              </a:ext>
            </a:extLst>
          </p:cNvPr>
          <p:cNvSpPr>
            <a:spLocks xmlns:a="http://schemas.openxmlformats.org/drawingml/2006/main" noGrp="1"/>
          </p:cNvSpPr>
          <p:nvPr/>
        </p:nvSpPr>
        <p:spPr>
          <a:xfrm xmlns:a="http://schemas.openxmlformats.org/drawingml/2006/main">
            <a:off x="8896350" y="2381250"/>
            <a:ext cx="27051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Fixed rows and screen assumptions break as the window changes.</a:t>
            </a:r>
          </a:p>
        </p:txBody>
      </p:sp>
      <p:sp>
        <p:nvSpPr>
          <p:cNvPr id="11" name="">
            <a:extLst xmlns:a="http://schemas.openxmlformats.org/drawingml/2006/main">
              <a:ext uri="{FF2B5EF4-FFF2-40B4-BE49-F238E27FC236}">
                <a16:creationId xmlns:a16="http://schemas.microsoft.com/office/drawing/2014/main" id="{CE63429E-BE5F-42D2-AA43-E24C4C8D1CD6}"/>
              </a:ext>
            </a:extLst>
          </p:cNvPr>
          <p:cNvSpPr>
            <a:spLocks xmlns:a="http://schemas.openxmlformats.org/drawingml/2006/main" noGrp="1"/>
          </p:cNvSpPr>
          <p:nvPr/>
        </p:nvSpPr>
        <p:spPr>
          <a:xfrm xmlns:a="http://schemas.openxmlformats.org/drawingml/2006/main">
            <a:off x="8896350" y="3743325"/>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Target behavior</a:t>
            </a:r>
          </a:p>
        </p:txBody>
      </p:sp>
      <p:sp>
        <p:nvSpPr>
          <p:cNvPr id="12" name="">
            <a:extLst xmlns:a="http://schemas.openxmlformats.org/drawingml/2006/main">
              <a:ext uri="{FF2B5EF4-FFF2-40B4-BE49-F238E27FC236}">
                <a16:creationId xmlns:a16="http://schemas.microsoft.com/office/drawing/2014/main" id="{B6F7C37F-F55A-4138-8A45-A47AAA1A630D}"/>
              </a:ext>
            </a:extLst>
          </p:cNvPr>
          <p:cNvSpPr>
            <a:spLocks xmlns:a="http://schemas.openxmlformats.org/drawingml/2006/main" noGrp="1"/>
          </p:cNvSpPr>
          <p:nvPr/>
        </p:nvSpPr>
        <p:spPr>
          <a:xfrm xmlns:a="http://schemas.openxmlformats.org/drawingml/2006/main">
            <a:off x="8896350" y="4181475"/>
            <a:ext cx="27051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Controls stay reachable. Content reflows. Selection and data persist.</a:t>
            </a:r>
          </a:p>
        </p:txBody>
      </p:sp>
    </p:spTree>
    <p:extLst>
      <p:ext uri="{BB962C8B-B14F-4D97-AF65-F5344CB8AC3E}">
        <p14:creationId xmlns:p14="http://schemas.microsoft.com/office/powerpoint/2010/main" val="1094138441"/>
      </p:ext>
    </p:extLst>
  </p:cSld>
</p:sld>
</file>

<file path=ppt/slides/slide3.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92F456-7C1B-4789-8244-9C551AC00DCF}"/>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Window geometry and size classes</a:t>
            </a:r>
          </a:p>
        </p:txBody>
      </p:sp>
      <p:sp>
        <p:nvSpPr>
          <p:cNvPr id="2" name="">
            <a:extLst xmlns:a="http://schemas.openxmlformats.org/drawingml/2006/main">
              <a:ext uri="{FF2B5EF4-FFF2-40B4-BE49-F238E27FC236}">
                <a16:creationId xmlns:a16="http://schemas.microsoft.com/office/drawing/2014/main" id="{56C3FDEB-4164-47B3-8D1C-1EE04A55439D}"/>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00BA45-56D9-4EB5-875C-C16BBDBCFAFD}"/>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GeometryReader is iOS 13+. AnyLayout is iOS 16+. The current window supplies the layout input.</a:t>
            </a:r>
          </a:p>
        </p:txBody>
      </p:sp>
      <p:sp>
        <p:nvSpPr>
          <p:cNvPr id="4" name="">
            <a:extLst xmlns:a="http://schemas.openxmlformats.org/drawingml/2006/main">
              <a:ext uri="{FF2B5EF4-FFF2-40B4-BE49-F238E27FC236}">
                <a16:creationId xmlns:a16="http://schemas.microsoft.com/office/drawing/2014/main" id="{72B1A5F6-99CD-402E-B187-6253AB6DFC7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CDFDD2C-A87E-46A8-930F-DE877155CC8F}"/>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local width drives an app fit rule</a:t>
            </a:r>
          </a:p>
        </p:txBody>
      </p:sp>
      <p:sp>
        <p:nvSpPr>
          <p:cNvPr id="6" name="">
            <a:extLst xmlns:a="http://schemas.openxmlformats.org/drawingml/2006/main">
              <a:ext uri="{FF2B5EF4-FFF2-40B4-BE49-F238E27FC236}">
                <a16:creationId xmlns:a16="http://schemas.microsoft.com/office/drawing/2014/main" id="{52354F13-964C-4967-8C50-DF34B5873E35}"/>
              </a:ext>
            </a:extLst>
          </p:cNvPr>
          <p:cNvSpPr>
            <a:spLocks xmlns:a="http://schemas.openxmlformats.org/drawingml/2006/main" noGrp="1"/>
          </p:cNvSpPr>
          <p:nvPr/>
        </p:nvSpPr>
        <p:spPr>
          <a:xfrm xmlns:a="http://schemas.openxmlformats.org/drawingml/2006/main">
            <a:off x="590550" y="1809750"/>
            <a:ext cx="6610350" cy="28289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ED93E9F-9468-4936-876D-E93EB4F1CF0B}"/>
              </a:ext>
            </a:extLst>
          </p:cNvPr>
          <p:cNvSpPr>
            <a:spLocks xmlns:a="http://schemas.openxmlformats.org/drawingml/2006/main" noGrp="1"/>
          </p:cNvSpPr>
          <p:nvPr/>
        </p:nvSpPr>
        <p:spPr>
          <a:xfrm xmlns:a="http://schemas.openxmlformats.org/drawingml/2006/main">
            <a:off x="781050" y="1962150"/>
            <a:ext cx="62293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86D8DD"/>
                </a:solidFill>
                <a:latin typeface="DejaVu Sans Mono"/>
                <a:ea typeface="DejaVu Sans Mono"/>
                <a:cs typeface="DejaVu Sans Mono"/>
              </a:rPr>
              <a:t>GeometryReader</a:t>
            </a:r>
            <a:r>
              <a:rPr sz="1650">
                <a:solidFill>
                  <a:srgbClr val="EDF0FC"/>
                </a:solidFill>
                <a:latin typeface="DejaVu Sans Mono"/>
                <a:ea typeface="DejaVu Sans Mono"/>
                <a:cs typeface="DejaVu Sans Mono"/>
              </a:rPr>
              <a:t> { </a:t>
            </a:r>
            <a:r>
              <a:rPr sz="1650">
                <a:solidFill>
                  <a:srgbClr val="EDF0FC"/>
                </a:solidFill>
                <a:latin typeface="DejaVu Sans Mono"/>
                <a:ea typeface="DejaVu Sans Mono"/>
                <a:cs typeface="DejaVu Sans Mono"/>
              </a:rPr>
              <a:t>proxy</a:t>
            </a:r>
            <a:r>
              <a:rPr sz="1650">
                <a:solidFill>
                  <a:srgbClr val="EDF0FC"/>
                </a:solidFill>
                <a:latin typeface="DejaVu Sans Mono"/>
                <a:ea typeface="DejaVu Sans Mono"/>
                <a:cs typeface="DejaVu Sans Mono"/>
              </a:rPr>
              <a:t> </a:t>
            </a:r>
            <a:r>
              <a:rPr sz="1650">
                <a:solidFill>
                  <a:srgbClr val="EFA8EB"/>
                </a:solidFill>
                <a:latin typeface="DejaVu Sans Mono"/>
                <a:ea typeface="DejaVu Sans Mono"/>
                <a:cs typeface="DejaVu Sans Mono"/>
              </a:rPr>
              <a:t>in</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FA8EB"/>
                </a:solidFill>
                <a:latin typeface="DejaVu Sans Mono"/>
                <a:ea typeface="DejaVu Sans Mono"/>
                <a:cs typeface="DejaVu Sans Mono"/>
              </a:rPr>
              <a:t>let</a:t>
            </a: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layout</a:t>
            </a:r>
            <a:r>
              <a:rPr sz="1650">
                <a:solidFill>
                  <a:srgbClr val="EDF0FC"/>
                </a:solidFill>
                <a:latin typeface="DejaVu Sans Mono"/>
                <a:ea typeface="DejaVu Sans Mono"/>
                <a:cs typeface="DejaVu Sans Mono"/>
              </a:rPr>
              <a:t> = </a:t>
            </a:r>
            <a:r>
              <a:rPr sz="1650">
                <a:solidFill>
                  <a:srgbClr val="EDF0FC"/>
                </a:solidFill>
                <a:latin typeface="DejaVu Sans Mono"/>
                <a:ea typeface="DejaVu Sans Mono"/>
                <a:cs typeface="DejaVu Sans Mono"/>
              </a:rPr>
              <a:t>proxy</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size</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width</a:t>
            </a:r>
            <a:r>
              <a:rPr sz="1650">
                <a:solidFill>
                  <a:srgbClr val="EDF0FC"/>
                </a:solidFill>
                <a:latin typeface="DejaVu Sans Mono"/>
                <a:ea typeface="DejaVu Sans Mono"/>
                <a:cs typeface="DejaVu Sans Mono"/>
              </a:rPr>
              <a:t> &gt;= </a:t>
            </a:r>
            <a:r>
              <a:rPr sz="1650">
                <a:solidFill>
                  <a:srgbClr val="B8D7A3"/>
                </a:solidFill>
                <a:latin typeface="DejaVu Sans Mono"/>
                <a:ea typeface="DejaVu Sans Mono"/>
                <a:cs typeface="DejaVu Sans Mono"/>
              </a:rPr>
              <a:t>600</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 </a:t>
            </a:r>
            <a:r>
              <a:rPr sz="1650">
                <a:solidFill>
                  <a:srgbClr val="86D8DD"/>
                </a:solidFill>
                <a:latin typeface="DejaVu Sans Mono"/>
                <a:ea typeface="DejaVu Sans Mono"/>
                <a:cs typeface="DejaVu Sans Mono"/>
              </a:rPr>
              <a:t>AnyLayout</a:t>
            </a:r>
            <a:r>
              <a:rPr sz="1650">
                <a:solidFill>
                  <a:srgbClr val="EDF0FC"/>
                </a:solidFill>
                <a:latin typeface="DejaVu Sans Mono"/>
                <a:ea typeface="DejaVu Sans Mono"/>
                <a:cs typeface="DejaVu Sans Mono"/>
              </a:rPr>
              <a:t>(</a:t>
            </a:r>
            <a:r>
              <a:rPr sz="1650">
                <a:solidFill>
                  <a:srgbClr val="86D8DD"/>
                </a:solidFill>
                <a:latin typeface="DejaVu Sans Mono"/>
                <a:ea typeface="DejaVu Sans Mono"/>
                <a:cs typeface="DejaVu Sans Mono"/>
              </a:rPr>
              <a:t>HStackLayout</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spacing</a:t>
            </a:r>
            <a:r>
              <a:rPr sz="1650">
                <a:solidFill>
                  <a:srgbClr val="EDF0FC"/>
                </a:solidFill>
                <a:latin typeface="DejaVu Sans Mono"/>
                <a:ea typeface="DejaVu Sans Mono"/>
                <a:cs typeface="DejaVu Sans Mono"/>
              </a:rPr>
              <a:t>: </a:t>
            </a:r>
            <a:r>
              <a:rPr sz="1650">
                <a:solidFill>
                  <a:srgbClr val="B8D7A3"/>
                </a:solidFill>
                <a:latin typeface="DejaVu Sans Mono"/>
                <a:ea typeface="DejaVu Sans Mono"/>
                <a:cs typeface="DejaVu Sans Mono"/>
              </a:rPr>
              <a:t>16</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 </a:t>
            </a:r>
            <a:r>
              <a:rPr sz="1650">
                <a:solidFill>
                  <a:srgbClr val="86D8DD"/>
                </a:solidFill>
                <a:latin typeface="DejaVu Sans Mono"/>
                <a:ea typeface="DejaVu Sans Mono"/>
                <a:cs typeface="DejaVu Sans Mono"/>
              </a:rPr>
              <a:t>AnyLayout</a:t>
            </a:r>
            <a:r>
              <a:rPr sz="1650">
                <a:solidFill>
                  <a:srgbClr val="EDF0FC"/>
                </a:solidFill>
                <a:latin typeface="DejaVu Sans Mono"/>
                <a:ea typeface="DejaVu Sans Mono"/>
                <a:cs typeface="DejaVu Sans Mono"/>
              </a:rPr>
              <a:t>(</a:t>
            </a:r>
            <a:r>
              <a:rPr sz="1650">
                <a:solidFill>
                  <a:srgbClr val="86D8DD"/>
                </a:solidFill>
                <a:latin typeface="DejaVu Sans Mono"/>
                <a:ea typeface="DejaVu Sans Mono"/>
                <a:cs typeface="DejaVu Sans Mono"/>
              </a:rPr>
              <a:t>VStackLayout</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spacing</a:t>
            </a:r>
            <a:r>
              <a:rPr sz="1650">
                <a:solidFill>
                  <a:srgbClr val="EDF0FC"/>
                </a:solidFill>
                <a:latin typeface="DejaVu Sans Mono"/>
                <a:ea typeface="DejaVu Sans Mono"/>
                <a:cs typeface="DejaVu Sans Mono"/>
              </a:rPr>
              <a:t>: </a:t>
            </a:r>
            <a:r>
              <a:rPr sz="1650">
                <a:solidFill>
                  <a:srgbClr val="B8D7A3"/>
                </a:solidFill>
                <a:latin typeface="DejaVu Sans Mono"/>
                <a:ea typeface="DejaVu Sans Mono"/>
                <a:cs typeface="DejaVu Sans Mono"/>
              </a:rPr>
              <a:t>16</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layout</a:t>
            </a:r>
            <a:r>
              <a:rPr sz="165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86D8DD"/>
                </a:solidFill>
                <a:latin typeface="DejaVu Sans Mono"/>
                <a:ea typeface="DejaVu Sans Mono"/>
                <a:cs typeface="DejaVu Sans Mono"/>
              </a:rPr>
              <a:t>SummaryCard</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86D8DD"/>
                </a:solidFill>
                <a:latin typeface="DejaVu Sans Mono"/>
                <a:ea typeface="DejaVu Sans Mono"/>
                <a:cs typeface="DejaVu Sans Mono"/>
              </a:rPr>
              <a:t>ProgressCard</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92EC6805-1CAF-48E9-ABA2-6A4012284D9A}"/>
              </a:ext>
            </a:extLst>
          </p:cNvPr>
          <p:cNvSpPr>
            <a:spLocks xmlns:a="http://schemas.openxmlformats.org/drawingml/2006/main" noGrp="1"/>
          </p:cNvSpPr>
          <p:nvPr/>
        </p:nvSpPr>
        <p:spPr>
          <a:xfrm xmlns:a="http://schemas.openxmlformats.org/drawingml/2006/main">
            <a:off x="590550" y="4895850"/>
            <a:ext cx="66103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600 pt is an example content threshold.</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Size classes describe the current window.</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AnyLayout preserves the children’s identity.</a:t>
            </a:r>
          </a:p>
        </p:txBody>
      </p:sp>
      <p:sp>
        <p:nvSpPr>
          <p:cNvPr id="9" name="">
            <a:extLst xmlns:a="http://schemas.openxmlformats.org/drawingml/2006/main">
              <a:ext uri="{FF2B5EF4-FFF2-40B4-BE49-F238E27FC236}">
                <a16:creationId xmlns:a16="http://schemas.microsoft.com/office/drawing/2014/main" id="{C8CF7864-FB70-45F6-8A29-58572AE922E5}"/>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the window can change both axes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1be3dfdc4314ca9"/>
          <a:srcRect xmlns:a="http://schemas.openxmlformats.org/drawingml/2006/main" l="4492" t="13860" r="7764" b="1116"/>
          <a:stretch xmlns:a="http://schemas.openxmlformats.org/drawingml/2006/main"/>
        </p:blipFill>
        <p:spPr>
          <a:xfrm xmlns:a="http://schemas.openxmlformats.org/drawingml/2006/main">
            <a:off x="8158579" y="1809750"/>
            <a:ext cx="2809041" cy="14287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cb6cf773cf04275"/>
          <a:srcRect xmlns:a="http://schemas.openxmlformats.org/drawingml/2006/main" l="13184" t="27778" r="7324" b="1515"/>
          <a:stretch xmlns:a="http://schemas.openxmlformats.org/drawingml/2006/main"/>
        </p:blipFill>
        <p:spPr>
          <a:xfrm xmlns:a="http://schemas.openxmlformats.org/drawingml/2006/main">
            <a:off x="7990278" y="3371850"/>
            <a:ext cx="3145645" cy="1352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D42E5F4-E7FE-4B7C-8F7F-CDDEDB5AE6AE}"/>
              </a:ext>
            </a:extLst>
          </p:cNvPr>
          <p:cNvSpPr>
            <a:spLocks xmlns:a="http://schemas.openxmlformats.org/drawingml/2006/main" noGrp="1"/>
          </p:cNvSpPr>
          <p:nvPr/>
        </p:nvSpPr>
        <p:spPr>
          <a:xfrm xmlns:a="http://schemas.openxmlformats.org/drawingml/2006/main">
            <a:off x="7524750" y="509587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UIKit: view.bounds and traitCollection</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Screen only if needed:</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view.window?.windowScene?.screen</a:t>
            </a:r>
          </a:p>
        </p:txBody>
      </p:sp>
      <p:sp>
        <p:nvSpPr>
          <p:cNvPr id="13" name="">
            <a:extLst xmlns:a="http://schemas.openxmlformats.org/drawingml/2006/main">
              <a:ext uri="{FF2B5EF4-FFF2-40B4-BE49-F238E27FC236}">
                <a16:creationId xmlns:a16="http://schemas.microsoft.com/office/drawing/2014/main" id="{BADA9CB6-85FF-4885-BFFE-24C02D385633}"/>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Use local bounds and traits. UIRequiresFullScreen does not prevent open/close resizing.</a:t>
            </a:r>
          </a:p>
        </p:txBody>
      </p:sp>
    </p:spTree>
    <p:extLst>
      <p:ext uri="{BB962C8B-B14F-4D97-AF65-F5344CB8AC3E}">
        <p14:creationId xmlns:p14="http://schemas.microsoft.com/office/powerpoint/2010/main" val="1860886594"/>
      </p:ext>
    </p:extLst>
  </p:cSld>
</p:sld>
</file>

<file path=ppt/slides/slide4.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3E2032-8DE4-44B1-A34A-B72089931B08}"/>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Native tabs and the optional sidebar</a:t>
            </a:r>
          </a:p>
        </p:txBody>
      </p:sp>
      <p:sp>
        <p:nvSpPr>
          <p:cNvPr id="2" name="">
            <a:extLst xmlns:a="http://schemas.openxmlformats.org/drawingml/2006/main">
              <a:ext uri="{FF2B5EF4-FFF2-40B4-BE49-F238E27FC236}">
                <a16:creationId xmlns:a16="http://schemas.microsoft.com/office/drawing/2014/main" id="{0044600B-C628-428A-AE5A-310FF641EB06}"/>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E5CD27-D2D1-42D7-AD49-62C3593074DE}"/>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Tab is iOS 18+. defaultTabBarPlacement is iOS 27+. Keep the same destinations across sizes.</a:t>
            </a:r>
          </a:p>
        </p:txBody>
      </p:sp>
      <p:sp>
        <p:nvSpPr>
          <p:cNvPr id="4" name="">
            <a:extLst xmlns:a="http://schemas.openxmlformats.org/drawingml/2006/main">
              <a:ext uri="{FF2B5EF4-FFF2-40B4-BE49-F238E27FC236}">
                <a16:creationId xmlns:a16="http://schemas.microsoft.com/office/drawing/2014/main" id="{F2896C50-57FA-4038-9042-BCF0B5EF9F4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5F2C54B-5B23-4CC4-A16F-8D60CFFBB76F}"/>
              </a:ext>
            </a:extLst>
          </p:cNvPr>
          <p:cNvSpPr>
            <a:spLocks xmlns:a="http://schemas.openxmlformats.org/drawingml/2006/main" noGrp="1"/>
          </p:cNvSpPr>
          <p:nvPr/>
        </p:nvSpPr>
        <p:spPr>
          <a:xfrm xmlns:a="http://schemas.openxmlformats.org/drawingml/2006/main">
            <a:off x="590550" y="1409700"/>
            <a:ext cx="581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Native TabView pattern with sidebar preference</a:t>
            </a:r>
          </a:p>
        </p:txBody>
      </p:sp>
      <p:sp>
        <p:nvSpPr>
          <p:cNvPr id="6" name="">
            <a:extLst xmlns:a="http://schemas.openxmlformats.org/drawingml/2006/main">
              <a:ext uri="{FF2B5EF4-FFF2-40B4-BE49-F238E27FC236}">
                <a16:creationId xmlns:a16="http://schemas.microsoft.com/office/drawing/2014/main" id="{F7332056-640D-4E78-A192-5669548CDF0C}"/>
              </a:ext>
            </a:extLst>
          </p:cNvPr>
          <p:cNvSpPr>
            <a:spLocks xmlns:a="http://schemas.openxmlformats.org/drawingml/2006/main" noGrp="1"/>
          </p:cNvSpPr>
          <p:nvPr/>
        </p:nvSpPr>
        <p:spPr>
          <a:xfrm xmlns:a="http://schemas.openxmlformats.org/drawingml/2006/main">
            <a:off x="590550" y="1809750"/>
            <a:ext cx="5810250" cy="409575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6885BA-EDD0-4521-92FD-064E6E927A4F}"/>
              </a:ext>
            </a:extLst>
          </p:cNvPr>
          <p:cNvSpPr>
            <a:spLocks xmlns:a="http://schemas.openxmlformats.org/drawingml/2006/main" noGrp="1"/>
          </p:cNvSpPr>
          <p:nvPr/>
        </p:nvSpPr>
        <p:spPr>
          <a:xfrm xmlns:a="http://schemas.openxmlformats.org/drawingml/2006/main">
            <a:off x="781050" y="1962150"/>
            <a:ext cx="5429250" cy="382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86D8DD"/>
                </a:solidFill>
                <a:latin typeface="DejaVu Sans Mono"/>
                <a:ea typeface="DejaVu Sans Mono"/>
                <a:cs typeface="DejaVu Sans Mono"/>
              </a:rPr>
              <a:t>TabView</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selection</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selectedTab</a:t>
            </a: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Tab</a:t>
            </a:r>
            <a:r>
              <a:rPr sz="1500">
                <a:solidFill>
                  <a:srgbClr val="EDF0FC"/>
                </a:solidFill>
                <a:latin typeface="DejaVu Sans Mono"/>
                <a:ea typeface="DejaVu Sans Mono"/>
                <a:cs typeface="DejaVu Sans Mono"/>
              </a:rPr>
              <a:t>(</a:t>
            </a:r>
            <a:r>
              <a:rPr sz="1500">
                <a:solidFill>
                  <a:srgbClr val="F3B98D"/>
                </a:solidFill>
                <a:latin typeface="DejaVu Sans Mono"/>
                <a:ea typeface="DejaVu Sans Mono"/>
                <a:cs typeface="DejaVu Sans Mono"/>
              </a:rPr>
              <a:t>"Workspace"</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systemImage</a:t>
            </a:r>
            <a:r>
              <a:rPr sz="1500">
                <a:solidFill>
                  <a:srgbClr val="EDF0FC"/>
                </a:solidFill>
                <a:latin typeface="DejaVu Sans Mono"/>
                <a:ea typeface="DejaVu Sans Mono"/>
                <a:cs typeface="DejaVu Sans Mono"/>
              </a:rPr>
              <a:t>: </a:t>
            </a:r>
            <a:r>
              <a:rPr sz="1500">
                <a:solidFill>
                  <a:srgbClr val="F3B98D"/>
                </a:solidFill>
                <a:latin typeface="DejaVu Sans Mono"/>
                <a:ea typeface="DejaVu Sans Mono"/>
                <a:cs typeface="DejaVu Sans Mono"/>
              </a:rPr>
              <a:t>"square.grid.2x2"</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value</a:t>
            </a: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AppTab</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workspace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workspace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Tab</a:t>
            </a:r>
            <a:r>
              <a:rPr sz="1500">
                <a:solidFill>
                  <a:srgbClr val="EDF0FC"/>
                </a:solidFill>
                <a:latin typeface="DejaVu Sans Mono"/>
                <a:ea typeface="DejaVu Sans Mono"/>
                <a:cs typeface="DejaVu Sans Mono"/>
              </a:rPr>
              <a:t>(</a:t>
            </a:r>
            <a:r>
              <a:rPr sz="1500">
                <a:solidFill>
                  <a:srgbClr val="F3B98D"/>
                </a:solidFill>
                <a:latin typeface="DejaVu Sans Mono"/>
                <a:ea typeface="DejaVu Sans Mono"/>
                <a:cs typeface="DejaVu Sans Mono"/>
              </a:rPr>
              <a:t>"Review"</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systemImage</a:t>
            </a:r>
            <a:r>
              <a:rPr sz="1500">
                <a:solidFill>
                  <a:srgbClr val="EDF0FC"/>
                </a:solidFill>
                <a:latin typeface="DejaVu Sans Mono"/>
                <a:ea typeface="DejaVu Sans Mono"/>
                <a:cs typeface="DejaVu Sans Mono"/>
              </a:rPr>
              <a:t>: </a:t>
            </a:r>
            <a:r>
              <a:rPr sz="1500">
                <a:solidFill>
                  <a:srgbClr val="F3B98D"/>
                </a:solidFill>
                <a:latin typeface="DejaVu Sans Mono"/>
                <a:ea typeface="DejaVu Sans Mono"/>
                <a:cs typeface="DejaVu Sans Mono"/>
              </a:rPr>
              <a:t>"checkmark.seal"</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value</a:t>
            </a: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AppTab</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review</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review</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tabViewStyle</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sidebarAdaptable</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defaultTabBarPlacement</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sidebar</a:t>
            </a:r>
            <a:r>
              <a:rPr sz="150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CD52E7A5-79A4-4E6B-AE7D-636872F2CE46}"/>
              </a:ext>
            </a:extLst>
          </p:cNvPr>
          <p:cNvSpPr>
            <a:spLocks xmlns:a="http://schemas.openxmlformats.org/drawingml/2006/main" noGrp="1"/>
          </p:cNvSpPr>
          <p:nvPr/>
        </p:nvSpPr>
        <p:spPr>
          <a:xfrm xmlns:a="http://schemas.openxmlformats.org/drawingml/2006/main">
            <a:off x="6762750" y="1409700"/>
            <a:ext cx="4838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tabs at the display edge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395786596fa4bf7"/>
          <a:srcRect xmlns:a="http://schemas.openxmlformats.org/drawingml/2006/main" l="2344" t="4357" r="2051" b="830"/>
          <a:stretch xmlns:a="http://schemas.openxmlformats.org/drawingml/2006/main"/>
        </p:blipFill>
        <p:spPr>
          <a:xfrm xmlns:a="http://schemas.openxmlformats.org/drawingml/2006/main">
            <a:off x="7264053" y="1809750"/>
            <a:ext cx="3836095" cy="17907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8958CEA-25D7-434D-AB17-FB8618BAE798}"/>
              </a:ext>
            </a:extLst>
          </p:cNvPr>
          <p:cNvSpPr>
            <a:spLocks xmlns:a="http://schemas.openxmlformats.org/drawingml/2006/main" noGrp="1"/>
          </p:cNvSpPr>
          <p:nvPr/>
        </p:nvSpPr>
        <p:spPr>
          <a:xfrm xmlns:a="http://schemas.openxmlformats.org/drawingml/2006/main">
            <a:off x="6762750" y="3857625"/>
            <a:ext cx="4838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optional sidebar navigation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364d4c6b06a4f95"/>
          <a:srcRect xmlns:a="http://schemas.openxmlformats.org/drawingml/2006/main" l="13930" t="14753" r="11443" b="33413"/>
          <a:stretch xmlns:a="http://schemas.openxmlformats.org/drawingml/2006/main"/>
        </p:blipFill>
        <p:spPr>
          <a:xfrm xmlns:a="http://schemas.openxmlformats.org/drawingml/2006/main">
            <a:off x="7269773" y="4257675"/>
            <a:ext cx="3824654" cy="16573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EB46EBA-D3A2-4F30-879A-9764B276AF4B}"/>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includes a tab/sidebar session. UIKit has a matching example. iOS 17 keeps native tab-item fallbacks.</a:t>
            </a:r>
          </a:p>
        </p:txBody>
      </p:sp>
    </p:spTree>
    <p:extLst>
      <p:ext uri="{BB962C8B-B14F-4D97-AF65-F5344CB8AC3E}">
        <p14:creationId xmlns:p14="http://schemas.microsoft.com/office/powerpoint/2010/main" val="2022775048"/>
      </p:ext>
    </p:extLst>
  </p:cSld>
</p:sld>
</file>

<file path=ppt/slides/slide5.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9960B7-C95D-4498-8126-9129C08C9232}"/>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NavigationSplitView preserves the hierarchy</a:t>
            </a:r>
          </a:p>
        </p:txBody>
      </p:sp>
      <p:sp>
        <p:nvSpPr>
          <p:cNvPr id="2" name="">
            <a:extLst xmlns:a="http://schemas.openxmlformats.org/drawingml/2006/main">
              <a:ext uri="{FF2B5EF4-FFF2-40B4-BE49-F238E27FC236}">
                <a16:creationId xmlns:a16="http://schemas.microsoft.com/office/drawing/2014/main" id="{8F50AB9A-9788-413A-A88E-FE2D4D89B24A}"/>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45165B-47EF-49BB-A3D6-DDE342D821D4}"/>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16+. Native navigation collapses into a stack when the window is compact.</a:t>
            </a:r>
          </a:p>
        </p:txBody>
      </p:sp>
      <p:sp>
        <p:nvSpPr>
          <p:cNvPr id="4" name="">
            <a:extLst xmlns:a="http://schemas.openxmlformats.org/drawingml/2006/main">
              <a:ext uri="{FF2B5EF4-FFF2-40B4-BE49-F238E27FC236}">
                <a16:creationId xmlns:a16="http://schemas.microsoft.com/office/drawing/2014/main" id="{D6E2EA4B-B0D4-46C6-805F-A69A958ECA4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8C92BA1-C274-4258-A419-0957708ED561}"/>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RootView: existing sidebar and detail</a:t>
            </a:r>
          </a:p>
        </p:txBody>
      </p:sp>
      <p:sp>
        <p:nvSpPr>
          <p:cNvPr id="6" name="">
            <a:extLst xmlns:a="http://schemas.openxmlformats.org/drawingml/2006/main">
              <a:ext uri="{FF2B5EF4-FFF2-40B4-BE49-F238E27FC236}">
                <a16:creationId xmlns:a16="http://schemas.microsoft.com/office/drawing/2014/main" id="{D666788B-104F-4E83-A798-5DBF34274BFA}"/>
              </a:ext>
            </a:extLst>
          </p:cNvPr>
          <p:cNvSpPr>
            <a:spLocks xmlns:a="http://schemas.openxmlformats.org/drawingml/2006/main" noGrp="1"/>
          </p:cNvSpPr>
          <p:nvPr/>
        </p:nvSpPr>
        <p:spPr>
          <a:xfrm xmlns:a="http://schemas.openxmlformats.org/drawingml/2006/main">
            <a:off x="590550" y="1809750"/>
            <a:ext cx="6610350" cy="32004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AAA727-286D-4F74-92EC-94F65712B4A9}"/>
              </a:ext>
            </a:extLst>
          </p:cNvPr>
          <p:cNvSpPr>
            <a:spLocks xmlns:a="http://schemas.openxmlformats.org/drawingml/2006/main" noGrp="1"/>
          </p:cNvSpPr>
          <p:nvPr/>
        </p:nvSpPr>
        <p:spPr>
          <a:xfrm xmlns:a="http://schemas.openxmlformats.org/drawingml/2006/main">
            <a:off x="781050" y="1962150"/>
            <a:ext cx="62293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NavigationSplitView</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List</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selection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selectedCategory</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ForEach</a:t>
            </a:r>
            <a:r>
              <a:rPr sz="1575">
                <a:solidFill>
                  <a:srgbClr val="EDF0FC"/>
                </a:solidFill>
                <a:latin typeface="DejaVu Sans Mono"/>
                <a:ea typeface="DejaVu Sans Mono"/>
                <a:cs typeface="DejaVu Sans Mono"/>
              </a:rPr>
              <a:t>(</a:t>
            </a:r>
            <a:r>
              <a:rPr sz="1575">
                <a:solidFill>
                  <a:srgbClr val="86D8DD"/>
                </a:solidFill>
                <a:latin typeface="DejaVu Sans Mono"/>
                <a:ea typeface="DejaVu Sans Mono"/>
                <a:cs typeface="DejaVu Sans Mono"/>
              </a:rPr>
              <a:t>WorkCategory</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allCases</a:t>
            </a:r>
            <a:r>
              <a:rPr sz="1575">
                <a:solidFill>
                  <a:srgbClr val="EDF0FC"/>
                </a:solidFill>
                <a:latin typeface="DejaVu Sans Mono"/>
                <a:ea typeface="DejaVu Sans Mono"/>
                <a:cs typeface="DejaVu Sans Mono"/>
              </a:rPr>
              <a:t>) { </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in</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NavigationLink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value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Label</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rawValue</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symbol</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detail</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workspaceDetail</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78701DDC-2812-4F1B-9A7A-2655DCCA0BA7}"/>
              </a:ext>
            </a:extLst>
          </p:cNvPr>
          <p:cNvSpPr>
            <a:spLocks xmlns:a="http://schemas.openxmlformats.org/drawingml/2006/main" noGrp="1"/>
          </p:cNvSpPr>
          <p:nvPr/>
        </p:nvSpPr>
        <p:spPr>
          <a:xfrm xmlns:a="http://schemas.openxmlformats.org/drawingml/2006/main">
            <a:off x="590550" y="5219700"/>
            <a:ext cx="6610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UIKit equivalent: UISplitViewController</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Keep selection and shared data above</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layout alternatives.</a:t>
            </a:r>
          </a:p>
        </p:txBody>
      </p:sp>
      <p:sp>
        <p:nvSpPr>
          <p:cNvPr id="9" name="">
            <a:extLst xmlns:a="http://schemas.openxmlformats.org/drawingml/2006/main">
              <a:ext uri="{FF2B5EF4-FFF2-40B4-BE49-F238E27FC236}">
                <a16:creationId xmlns:a16="http://schemas.microsoft.com/office/drawing/2014/main" id="{CE05B589-E946-4426-B121-E740C6EA0B04}"/>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Your project: sidebar and workspace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58472b1d3e040dc"/>
          <a:srcRect xmlns:a="http://schemas.openxmlformats.org/drawingml/2006/main" l="0" t="0" r="0" b="53399"/>
          <a:stretch xmlns:a="http://schemas.openxmlformats.org/drawingml/2006/main"/>
        </p:blipFill>
        <p:spPr>
          <a:xfrm xmlns:a="http://schemas.openxmlformats.org/drawingml/2006/main">
            <a:off x="7524750" y="1881494"/>
            <a:ext cx="4076700" cy="2533037"/>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B78BBF4-9D26-4193-A036-F547EE8291B3}"/>
              </a:ext>
            </a:extLst>
          </p:cNvPr>
          <p:cNvSpPr>
            <a:spLocks xmlns:a="http://schemas.openxmlformats.org/drawingml/2006/main" noGrp="1"/>
          </p:cNvSpPr>
          <p:nvPr/>
        </p:nvSpPr>
        <p:spPr>
          <a:xfrm xmlns:a="http://schemas.openxmlformats.org/drawingml/2006/main">
            <a:off x="7524750" y="473392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UI effect</a:t>
            </a:r>
          </a:p>
        </p:txBody>
      </p:sp>
      <p:sp>
        <p:nvSpPr>
          <p:cNvPr id="12" name="">
            <a:extLst xmlns:a="http://schemas.openxmlformats.org/drawingml/2006/main">
              <a:ext uri="{FF2B5EF4-FFF2-40B4-BE49-F238E27FC236}">
                <a16:creationId xmlns:a16="http://schemas.microsoft.com/office/drawing/2014/main" id="{804341F9-5362-46F4-B9A3-475BD9B0A1BF}"/>
              </a:ext>
            </a:extLst>
          </p:cNvPr>
          <p:cNvSpPr>
            <a:spLocks xmlns:a="http://schemas.openxmlformats.org/drawingml/2006/main" noGrp="1"/>
          </p:cNvSpPr>
          <p:nvPr/>
        </p:nvSpPr>
        <p:spPr>
          <a:xfrm xmlns:a="http://schemas.openxmlformats.org/drawingml/2006/main">
            <a:off x="7524750" y="5133975"/>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 wide window can show more hierarchy.</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 narrow window preserves access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through native stack navigation.</a:t>
            </a:r>
          </a:p>
        </p:txBody>
      </p:sp>
      <p:sp>
        <p:nvSpPr>
          <p:cNvPr id="13" name="">
            <a:extLst xmlns:a="http://schemas.openxmlformats.org/drawingml/2006/main">
              <a:ext uri="{FF2B5EF4-FFF2-40B4-BE49-F238E27FC236}">
                <a16:creationId xmlns:a16="http://schemas.microsoft.com/office/drawing/2014/main" id="{794A4BBB-DEE1-4B58-B7A7-ABE49EEE5C2C}"/>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Implemented in RootView. This crop is an earlier project capture, before the latest tab integration.</a:t>
            </a:r>
          </a:p>
        </p:txBody>
      </p:sp>
    </p:spTree>
    <p:extLst>
      <p:ext uri="{BB962C8B-B14F-4D97-AF65-F5344CB8AC3E}">
        <p14:creationId xmlns:p14="http://schemas.microsoft.com/office/powerpoint/2010/main" val="1715814636"/>
      </p:ext>
    </p:extLst>
  </p:cSld>
</p:sld>
</file>

<file path=ppt/slides/slide6.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A82B8B-A954-40AF-8A4A-CA2F7DC80AAC}"/>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Safe areas keep controls clear of system UI</a:t>
            </a:r>
          </a:p>
        </p:txBody>
      </p:sp>
      <p:sp>
        <p:nvSpPr>
          <p:cNvPr id="2" name="">
            <a:extLst xmlns:a="http://schemas.openxmlformats.org/drawingml/2006/main">
              <a:ext uri="{FF2B5EF4-FFF2-40B4-BE49-F238E27FC236}">
                <a16:creationId xmlns:a16="http://schemas.microsoft.com/office/drawing/2014/main" id="{E1B7ED7D-FAA8-4ABB-AE92-45D746E521B8}"/>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18F7D1-4CC5-49A5-8E7F-FB5ADF56CC9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Foreground content respects each inset. Decorative backgrounds can extend behind the bars.</a:t>
            </a:r>
          </a:p>
        </p:txBody>
      </p:sp>
      <p:sp>
        <p:nvSpPr>
          <p:cNvPr id="4" name="">
            <a:extLst xmlns:a="http://schemas.openxmlformats.org/drawingml/2006/main">
              <a:ext uri="{FF2B5EF4-FFF2-40B4-BE49-F238E27FC236}">
                <a16:creationId xmlns:a16="http://schemas.microsoft.com/office/drawing/2014/main" id="{B79EB03E-90BD-4AB4-BF2F-E41C4548A8E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DD33202-BC0F-4DD8-8C49-E94E25A5BD67}"/>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separate the background from content</a:t>
            </a:r>
          </a:p>
        </p:txBody>
      </p:sp>
      <p:sp>
        <p:nvSpPr>
          <p:cNvPr id="6" name="">
            <a:extLst xmlns:a="http://schemas.openxmlformats.org/drawingml/2006/main">
              <a:ext uri="{FF2B5EF4-FFF2-40B4-BE49-F238E27FC236}">
                <a16:creationId xmlns:a16="http://schemas.microsoft.com/office/drawing/2014/main" id="{ED99556F-962F-4AD0-B362-959EE972E0FC}"/>
              </a:ext>
            </a:extLst>
          </p:cNvPr>
          <p:cNvSpPr>
            <a:spLocks xmlns:a="http://schemas.openxmlformats.org/drawingml/2006/main" noGrp="1"/>
          </p:cNvSpPr>
          <p:nvPr/>
        </p:nvSpPr>
        <p:spPr>
          <a:xfrm xmlns:a="http://schemas.openxmlformats.org/drawingml/2006/main">
            <a:off x="590550" y="1809750"/>
            <a:ext cx="6610350" cy="31337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1DDB8F-EF60-4090-8E60-A3799A0006F7}"/>
              </a:ext>
            </a:extLst>
          </p:cNvPr>
          <p:cNvSpPr>
            <a:spLocks xmlns:a="http://schemas.openxmlformats.org/drawingml/2006/main" noGrp="1"/>
          </p:cNvSpPr>
          <p:nvPr/>
        </p:nvSpPr>
        <p:spPr>
          <a:xfrm xmlns:a="http://schemas.openxmlformats.org/drawingml/2006/main">
            <a:off x="781050" y="1962150"/>
            <a:ext cx="6229350"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ZStack</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Color</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blue</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opacity</a:t>
            </a:r>
            <a:r>
              <a:rPr sz="1575">
                <a:solidFill>
                  <a:srgbClr val="EDF0FC"/>
                </a:solidFill>
                <a:latin typeface="DejaVu Sans Mono"/>
                <a:ea typeface="DejaVu Sans Mono"/>
                <a:cs typeface="DejaVu Sans Mono"/>
              </a:rPr>
              <a:t>(</a:t>
            </a:r>
            <a:r>
              <a:rPr sz="1575">
                <a:solidFill>
                  <a:srgbClr val="B8D7A3"/>
                </a:solidFill>
                <a:latin typeface="DejaVu Sans Mono"/>
                <a:ea typeface="DejaVu Sans Mono"/>
                <a:cs typeface="DejaVu Sans Mono"/>
              </a:rPr>
              <a:t>0.12</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ignoresSafeArea</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container</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ScrollView</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VStack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alignment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leading</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spacing</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16</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WorkspaceControls</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RecordCards</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padding</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52666777-A6D3-4F16-A1F5-5D5AA369D97D}"/>
              </a:ext>
            </a:extLst>
          </p:cNvPr>
          <p:cNvSpPr>
            <a:spLocks xmlns:a="http://schemas.openxmlformats.org/drawingml/2006/main" noGrp="1"/>
          </p:cNvSpPr>
          <p:nvPr/>
        </p:nvSpPr>
        <p:spPr>
          <a:xfrm xmlns:a="http://schemas.openxmlformats.org/drawingml/2006/main">
            <a:off x="590550" y="5257800"/>
            <a:ext cx="661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UIKit: constrain to safeAreaLayoutGuide.</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For manual frames, use</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view.bounds.inset(by: view.safeAreaInsets).</a:t>
            </a:r>
          </a:p>
        </p:txBody>
      </p:sp>
      <p:sp>
        <p:nvSpPr>
          <p:cNvPr id="9" name="">
            <a:extLst xmlns:a="http://schemas.openxmlformats.org/drawingml/2006/main">
              <a:ext uri="{FF2B5EF4-FFF2-40B4-BE49-F238E27FC236}">
                <a16:creationId xmlns:a16="http://schemas.microsoft.com/office/drawing/2014/main" id="{58935595-D684-49A1-AF08-778402370C68}"/>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foreground safe area</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be53dc64cbf4204"/>
          <a:srcRect xmlns:a="http://schemas.openxmlformats.org/drawingml/2006/main" l="64697" t="7656" r="879" b="957"/>
          <a:stretch xmlns:a="http://schemas.openxmlformats.org/drawingml/2006/main"/>
        </p:blipFill>
        <p:spPr>
          <a:xfrm xmlns:a="http://schemas.openxmlformats.org/drawingml/2006/main">
            <a:off x="8508368" y="1809750"/>
            <a:ext cx="2109463" cy="2857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2725D12-4030-473E-9A84-9424E2995FC9}"/>
              </a:ext>
            </a:extLst>
          </p:cNvPr>
          <p:cNvSpPr>
            <a:spLocks xmlns:a="http://schemas.openxmlformats.org/drawingml/2006/main" noGrp="1"/>
          </p:cNvSpPr>
          <p:nvPr/>
        </p:nvSpPr>
        <p:spPr>
          <a:xfrm xmlns:a="http://schemas.openxmlformats.org/drawingml/2006/main">
            <a:off x="7524750" y="489585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UI effect</a:t>
            </a:r>
          </a:p>
        </p:txBody>
      </p:sp>
      <p:sp>
        <p:nvSpPr>
          <p:cNvPr id="12" name="">
            <a:extLst xmlns:a="http://schemas.openxmlformats.org/drawingml/2006/main">
              <a:ext uri="{FF2B5EF4-FFF2-40B4-BE49-F238E27FC236}">
                <a16:creationId xmlns:a16="http://schemas.microsoft.com/office/drawing/2014/main" id="{60019F69-53DA-4EC5-89B6-35625E186C39}"/>
              </a:ext>
            </a:extLst>
          </p:cNvPr>
          <p:cNvSpPr>
            <a:spLocks xmlns:a="http://schemas.openxmlformats.org/drawingml/2006/main" noGrp="1"/>
          </p:cNvSpPr>
          <p:nvPr/>
        </p:nvSpPr>
        <p:spPr>
          <a:xfrm xmlns:a="http://schemas.openxmlformats.org/drawingml/2006/main">
            <a:off x="7524750" y="529590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Content clears the side control lane.</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Opposing insets can differ.</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Test both sides of Split View.</a:t>
            </a:r>
          </a:p>
        </p:txBody>
      </p:sp>
      <p:sp>
        <p:nvSpPr>
          <p:cNvPr id="13" name="">
            <a:extLst xmlns:a="http://schemas.openxmlformats.org/drawingml/2006/main">
              <a:ext uri="{FF2B5EF4-FFF2-40B4-BE49-F238E27FC236}">
                <a16:creationId xmlns:a16="http://schemas.microsoft.com/office/drawing/2014/main" id="{0B04BBFE-639D-4092-A315-8F4B983BD487}"/>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Background-only ignoresSafeArea is already used. Apply foreground fixes wherever custom content needs them.</a:t>
            </a:r>
          </a:p>
        </p:txBody>
      </p:sp>
    </p:spTree>
    <p:extLst>
      <p:ext uri="{BB962C8B-B14F-4D97-AF65-F5344CB8AC3E}">
        <p14:creationId xmlns:p14="http://schemas.microsoft.com/office/powerpoint/2010/main" val="1634528737"/>
      </p:ext>
    </p:extLst>
  </p:cSld>
</p:sld>
</file>

<file path=ppt/slides/slide7.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3A2766-527E-4D70-8787-2B8A6726177E}"/>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Content reflow instead of overlapping controls</a:t>
            </a:r>
          </a:p>
        </p:txBody>
      </p:sp>
      <p:sp>
        <p:nvSpPr>
          <p:cNvPr id="2" name="">
            <a:extLst xmlns:a="http://schemas.openxmlformats.org/drawingml/2006/main">
              <a:ext uri="{FF2B5EF4-FFF2-40B4-BE49-F238E27FC236}">
                <a16:creationId xmlns:a16="http://schemas.microsoft.com/office/drawing/2014/main" id="{1B956CDA-C162-4183-86B3-A22B0329FED1}"/>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2794BD-C448-4D5D-BB1B-FA19A2968DC6}"/>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16+. The app supplies alternatives; SwiftUI selects the first one that fits.</a:t>
            </a:r>
          </a:p>
        </p:txBody>
      </p:sp>
      <p:sp>
        <p:nvSpPr>
          <p:cNvPr id="4" name="">
            <a:extLst xmlns:a="http://schemas.openxmlformats.org/drawingml/2006/main">
              <a:ext uri="{FF2B5EF4-FFF2-40B4-BE49-F238E27FC236}">
                <a16:creationId xmlns:a16="http://schemas.microsoft.com/office/drawing/2014/main" id="{204A4F2C-6C56-4C86-8802-80D089D1AA6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78600DB-68EC-4338-9090-E88A50454398}"/>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Header pattern used by the existing app</a:t>
            </a:r>
          </a:p>
        </p:txBody>
      </p:sp>
      <p:sp>
        <p:nvSpPr>
          <p:cNvPr id="6" name="">
            <a:extLst xmlns:a="http://schemas.openxmlformats.org/drawingml/2006/main">
              <a:ext uri="{FF2B5EF4-FFF2-40B4-BE49-F238E27FC236}">
                <a16:creationId xmlns:a16="http://schemas.microsoft.com/office/drawing/2014/main" id="{8A0DCE36-4DBF-4394-87D4-D0F5FA0A4469}"/>
              </a:ext>
            </a:extLst>
          </p:cNvPr>
          <p:cNvSpPr>
            <a:spLocks xmlns:a="http://schemas.openxmlformats.org/drawingml/2006/main" noGrp="1"/>
          </p:cNvSpPr>
          <p:nvPr/>
        </p:nvSpPr>
        <p:spPr>
          <a:xfrm xmlns:a="http://schemas.openxmlformats.org/drawingml/2006/main">
            <a:off x="590550" y="1809750"/>
            <a:ext cx="6610350" cy="410527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24C0B0-6D73-420D-A445-0128DA58D4ED}"/>
              </a:ext>
            </a:extLst>
          </p:cNvPr>
          <p:cNvSpPr>
            <a:spLocks xmlns:a="http://schemas.openxmlformats.org/drawingml/2006/main" noGrp="1"/>
          </p:cNvSpPr>
          <p:nvPr/>
        </p:nvSpPr>
        <p:spPr>
          <a:xfrm xmlns:a="http://schemas.openxmlformats.org/drawingml/2006/main">
            <a:off x="781050" y="1962150"/>
            <a:ext cx="6229350" cy="3838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ViewThatFits</a:t>
            </a:r>
            <a:r>
              <a:rPr sz="1575">
                <a:solidFill>
                  <a:srgbClr val="EDF0FC"/>
                </a:solidFill>
                <a:latin typeface="DejaVu Sans Mono"/>
                <a:ea typeface="DejaVu Sans Mono"/>
                <a:cs typeface="DejaVu Sans Mono"/>
              </a:rPr>
              <a:t>(</a:t>
            </a:r>
            <a:r>
              <a:rPr sz="1575">
                <a:solidFill>
                  <a:srgbClr val="EFA8EB"/>
                </a:solidFill>
                <a:latin typeface="DejaVu Sans Mono"/>
                <a:ea typeface="DejaVu Sans Mono"/>
                <a:cs typeface="DejaVu Sans Mono"/>
              </a:rPr>
              <a:t>in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horizontal</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HStack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spacing</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12</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layoutButtons</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poseControl</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decisionBadge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fixedSize</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horizontal</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true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vertical</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false</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VStack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alignment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leading</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spacing</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12</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layoutControls</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poseControl</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decisionBadge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06E6A1F7-4BF8-4D57-B9ED-B811F40FBB76}"/>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Your project: earlier compressed controls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5924337ef66461e"/>
          <a:srcRect xmlns:a="http://schemas.openxmlformats.org/drawingml/2006/main" l="51873" t="18059" r="13015" b="48526"/>
          <a:stretch xmlns:a="http://schemas.openxmlformats.org/drawingml/2006/main"/>
        </p:blipFill>
        <p:spPr>
          <a:xfrm xmlns:a="http://schemas.openxmlformats.org/drawingml/2006/main">
            <a:off x="7737767" y="1809750"/>
            <a:ext cx="3650666" cy="2647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1CC661B-3320-4952-BBC8-E57FD1560C0A}"/>
              </a:ext>
            </a:extLst>
          </p:cNvPr>
          <p:cNvSpPr>
            <a:spLocks xmlns:a="http://schemas.openxmlformats.org/drawingml/2006/main" noGrp="1"/>
          </p:cNvSpPr>
          <p:nvPr/>
        </p:nvSpPr>
        <p:spPr>
          <a:xfrm xmlns:a="http://schemas.openxmlformats.org/drawingml/2006/main">
            <a:off x="7524750" y="464820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1" name="">
            <a:extLst xmlns:a="http://schemas.openxmlformats.org/drawingml/2006/main">
              <a:ext uri="{FF2B5EF4-FFF2-40B4-BE49-F238E27FC236}">
                <a16:creationId xmlns:a16="http://schemas.microsoft.com/office/drawing/2014/main" id="{0AE81EDD-E429-402B-9B51-81394E87B6F8}"/>
              </a:ext>
            </a:extLst>
          </p:cNvPr>
          <p:cNvSpPr>
            <a:spLocks xmlns:a="http://schemas.openxmlformats.org/drawingml/2006/main" noGrp="1"/>
          </p:cNvSpPr>
          <p:nvPr/>
        </p:nvSpPr>
        <p:spPr>
          <a:xfrm xmlns:a="http://schemas.openxmlformats.org/drawingml/2006/main">
            <a:off x="7524750" y="504825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Controls can move from row to column.</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Card titles grow vertically. Accessibility</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text uses the app’s single-column fallback.</a:t>
            </a:r>
          </a:p>
        </p:txBody>
      </p:sp>
      <p:sp>
        <p:nvSpPr>
          <p:cNvPr id="12" name="">
            <a:extLst xmlns:a="http://schemas.openxmlformats.org/drawingml/2006/main">
              <a:ext uri="{FF2B5EF4-FFF2-40B4-BE49-F238E27FC236}">
                <a16:creationId xmlns:a16="http://schemas.microsoft.com/office/drawing/2014/main" id="{3D108824-F9CC-439E-ADF0-E62606515C6D}"/>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Fitting and multiline fixes are in source. Large text uses one column. A fresh runtime capture is still needed.</a:t>
            </a:r>
          </a:p>
        </p:txBody>
      </p:sp>
    </p:spTree>
    <p:extLst>
      <p:ext uri="{BB962C8B-B14F-4D97-AF65-F5344CB8AC3E}">
        <p14:creationId xmlns:p14="http://schemas.microsoft.com/office/powerpoint/2010/main" val="577613499"/>
      </p:ext>
    </p:extLst>
  </p:cSld>
</p:sld>
</file>

<file path=ppt/slides/slide8.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FADE78-2028-417E-B903-CD75AC482BD0}"/>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ArrangementView for related content</a:t>
            </a:r>
          </a:p>
        </p:txBody>
      </p:sp>
      <p:sp>
        <p:nvSpPr>
          <p:cNvPr id="2" name="">
            <a:extLst xmlns:a="http://schemas.openxmlformats.org/drawingml/2006/main">
              <a:ext uri="{FF2B5EF4-FFF2-40B4-BE49-F238E27FC236}">
                <a16:creationId xmlns:a16="http://schemas.microsoft.com/office/drawing/2014/main" id="{1B0C8EAB-66C7-47F2-AF29-76D684B01CD9}"/>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709063-825D-4C06-B28E-D14CE51B47B1}"/>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27.1 beta. Use it for related content, separately from navigation hierarchy.</a:t>
            </a:r>
          </a:p>
        </p:txBody>
      </p:sp>
      <p:sp>
        <p:nvSpPr>
          <p:cNvPr id="4" name="">
            <a:extLst xmlns:a="http://schemas.openxmlformats.org/drawingml/2006/main">
              <a:ext uri="{FF2B5EF4-FFF2-40B4-BE49-F238E27FC236}">
                <a16:creationId xmlns:a16="http://schemas.microsoft.com/office/drawing/2014/main" id="{3C2D4385-18C8-484D-A377-8D4E8D64294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58722B0-140A-4DAC-9E55-2F2B68ADA030}"/>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API Lab pattern · condensed content views</a:t>
            </a:r>
          </a:p>
        </p:txBody>
      </p:sp>
      <p:sp>
        <p:nvSpPr>
          <p:cNvPr id="6" name="">
            <a:extLst xmlns:a="http://schemas.openxmlformats.org/drawingml/2006/main">
              <a:ext uri="{FF2B5EF4-FFF2-40B4-BE49-F238E27FC236}">
                <a16:creationId xmlns:a16="http://schemas.microsoft.com/office/drawing/2014/main" id="{E1880E9B-1E1D-4B22-B419-7497A5F204DE}"/>
              </a:ext>
            </a:extLst>
          </p:cNvPr>
          <p:cNvSpPr>
            <a:spLocks xmlns:a="http://schemas.openxmlformats.org/drawingml/2006/main" noGrp="1"/>
          </p:cNvSpPr>
          <p:nvPr/>
        </p:nvSpPr>
        <p:spPr>
          <a:xfrm xmlns:a="http://schemas.openxmlformats.org/drawingml/2006/main">
            <a:off x="590550" y="1809750"/>
            <a:ext cx="6610350" cy="21431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7C7A54-2061-4236-91E8-D2E8A685B773}"/>
              </a:ext>
            </a:extLst>
          </p:cNvPr>
          <p:cNvSpPr>
            <a:spLocks xmlns:a="http://schemas.openxmlformats.org/drawingml/2006/main" noGrp="1"/>
          </p:cNvSpPr>
          <p:nvPr/>
        </p:nvSpPr>
        <p:spPr>
          <a:xfrm xmlns:a="http://schemas.openxmlformats.org/drawingml/2006/main">
            <a:off x="781050" y="1962150"/>
            <a:ext cx="62293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86D8DD"/>
                </a:solidFill>
                <a:latin typeface="DejaVu Sans Mono"/>
                <a:ea typeface="DejaVu Sans Mono"/>
                <a:cs typeface="DejaVu Sans Mono"/>
              </a:rPr>
              <a:t>ArrangementView</a:t>
            </a:r>
            <a:r>
              <a:rPr sz="172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    </a:t>
            </a:r>
            <a:r>
              <a:rPr sz="1725">
                <a:solidFill>
                  <a:srgbClr val="86D8DD"/>
                </a:solidFill>
                <a:latin typeface="DejaVu Sans Mono"/>
                <a:ea typeface="DejaVu Sans Mono"/>
                <a:cs typeface="DejaVu Sans Mono"/>
              </a:rPr>
              <a:t>RecordList</a:t>
            </a: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 </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 </a:t>
            </a:r>
            <a:r>
              <a:rPr sz="1725">
                <a:solidFill>
                  <a:srgbClr val="EDF0FC"/>
                </a:solidFill>
                <a:latin typeface="DejaVu Sans Mono"/>
                <a:ea typeface="DejaVu Sans Mono"/>
                <a:cs typeface="DejaVu Sans Mono"/>
              </a:rPr>
              <a:t>secondary</a:t>
            </a:r>
            <a:r>
              <a:rPr sz="172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    </a:t>
            </a:r>
            <a:r>
              <a:rPr sz="1725">
                <a:solidFill>
                  <a:srgbClr val="86D8DD"/>
                </a:solidFill>
                <a:latin typeface="DejaVu Sans Mono"/>
                <a:ea typeface="DejaVu Sans Mono"/>
                <a:cs typeface="DejaVu Sans Mono"/>
              </a:rPr>
              <a:t>SummaryView</a:t>
            </a: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 </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arrangementViewStyle</a:t>
            </a: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split</a:t>
            </a:r>
            <a:r>
              <a:rPr sz="172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02611D66-2FF1-41CF-8AC1-71A72FDC827C}"/>
              </a:ext>
            </a:extLst>
          </p:cNvPr>
          <p:cNvSpPr>
            <a:spLocks xmlns:a="http://schemas.openxmlformats.org/drawingml/2006/main" noGrp="1"/>
          </p:cNvSpPr>
          <p:nvPr/>
        </p:nvSpPr>
        <p:spPr>
          <a:xfrm xmlns:a="http://schemas.openxmlformats.org/drawingml/2006/main">
            <a:off x="590550" y="4257675"/>
            <a:ext cx="66103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Primary contains every record.</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Summary has another navigation route.</a:t>
            </a:r>
          </a:p>
          <a:p xmlns:a="http://schemas.openxmlformats.org/drawingml/2006/main">
            <a:r>
              <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The demo uses a split ratio and also</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includes a separate overlay example.</a:t>
            </a:r>
          </a:p>
        </p:txBody>
      </p:sp>
      <p:sp>
        <p:nvSpPr>
          <p:cNvPr id="9" name="">
            <a:extLst xmlns:a="http://schemas.openxmlformats.org/drawingml/2006/main">
              <a:ext uri="{FF2B5EF4-FFF2-40B4-BE49-F238E27FC236}">
                <a16:creationId xmlns:a16="http://schemas.microsoft.com/office/drawing/2014/main" id="{2278F2C5-20B4-4DA7-A764-92EBE387EF87}"/>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example: player and queue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3dacbef69aa43db"/>
          <a:srcRect xmlns:a="http://schemas.openxmlformats.org/drawingml/2006/main" l="51042" t="20185" r="2500" b="20093"/>
          <a:stretch xmlns:a="http://schemas.openxmlformats.org/drawingml/2006/main"/>
        </p:blipFill>
        <p:spPr>
          <a:xfrm xmlns:a="http://schemas.openxmlformats.org/drawingml/2006/main">
            <a:off x="7639907" y="1809750"/>
            <a:ext cx="3846387" cy="27813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BAFB5B2-7727-46E8-89BA-47F2F560FA06}"/>
              </a:ext>
            </a:extLst>
          </p:cNvPr>
          <p:cNvSpPr>
            <a:spLocks xmlns:a="http://schemas.openxmlformats.org/drawingml/2006/main" noGrp="1"/>
          </p:cNvSpPr>
          <p:nvPr/>
        </p:nvSpPr>
        <p:spPr>
          <a:xfrm xmlns:a="http://schemas.openxmlformats.org/drawingml/2006/main">
            <a:off x="7524750" y="491490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2" name="">
            <a:extLst xmlns:a="http://schemas.openxmlformats.org/drawingml/2006/main">
              <a:ext uri="{FF2B5EF4-FFF2-40B4-BE49-F238E27FC236}">
                <a16:creationId xmlns:a16="http://schemas.microsoft.com/office/drawing/2014/main" id="{8411BFD8-AFCC-40C4-BF0F-D56EC45D7139}"/>
              </a:ext>
            </a:extLst>
          </p:cNvPr>
          <p:cNvSpPr>
            <a:spLocks xmlns:a="http://schemas.openxmlformats.org/drawingml/2006/main" noGrp="1"/>
          </p:cNvSpPr>
          <p:nvPr/>
        </p:nvSpPr>
        <p:spPr>
          <a:xfrm xmlns:a="http://schemas.openxmlformats.org/drawingml/2006/main">
            <a:off x="7524750" y="531495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system arranges the related views.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app still preserves access when a</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secondary view is not displayed.</a:t>
            </a:r>
          </a:p>
        </p:txBody>
      </p:sp>
      <p:sp>
        <p:nvSpPr>
          <p:cNvPr id="13" name="">
            <a:extLst xmlns:a="http://schemas.openxmlformats.org/drawingml/2006/main">
              <a:ext uri="{FF2B5EF4-FFF2-40B4-BE49-F238E27FC236}">
                <a16:creationId xmlns:a16="http://schemas.microsoft.com/office/drawing/2014/main" id="{A5196FD4-A1AB-490F-BEB9-8F7DC8EDFEC5}"/>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demonstrates native split and overlay arrangements. Workspace keeps its separate pose previews.</a:t>
            </a:r>
          </a:p>
        </p:txBody>
      </p:sp>
    </p:spTree>
    <p:extLst>
      <p:ext uri="{BB962C8B-B14F-4D97-AF65-F5344CB8AC3E}">
        <p14:creationId xmlns:p14="http://schemas.microsoft.com/office/powerpoint/2010/main" val="63375955"/>
      </p:ext>
    </p:extLst>
  </p:cSld>
</p:sld>
</file>

<file path=ppt/slides/slide9.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7BDA9D-EBC9-48AD-A65B-8D461B93952B}"/>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Reserved regions for custom layout</a:t>
            </a:r>
          </a:p>
        </p:txBody>
      </p:sp>
      <p:sp>
        <p:nvSpPr>
          <p:cNvPr id="2" name="">
            <a:extLst xmlns:a="http://schemas.openxmlformats.org/drawingml/2006/main">
              <a:ext uri="{FF2B5EF4-FFF2-40B4-BE49-F238E27FC236}">
                <a16:creationId xmlns:a16="http://schemas.microsoft.com/office/drawing/2014/main" id="{664B9E69-93DE-4843-9BCC-3AAEFD31BD76}"/>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F90AB5-D4E7-4188-915B-81B7BD4606AD}"/>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27.1 beta. Querying a region does not move your custom UI.</a:t>
            </a:r>
          </a:p>
        </p:txBody>
      </p:sp>
      <p:sp>
        <p:nvSpPr>
          <p:cNvPr id="4" name="">
            <a:extLst xmlns:a="http://schemas.openxmlformats.org/drawingml/2006/main">
              <a:ext uri="{FF2B5EF4-FFF2-40B4-BE49-F238E27FC236}">
                <a16:creationId xmlns:a16="http://schemas.microsoft.com/office/drawing/2014/main" id="{78924881-5779-4154-8CD5-245FE35F64A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10E4221E-0E10-4733-9877-53838FF548CE}"/>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API Lab · measured values in local space</a:t>
            </a:r>
          </a:p>
        </p:txBody>
      </p:sp>
      <p:sp>
        <p:nvSpPr>
          <p:cNvPr id="6" name="">
            <a:extLst xmlns:a="http://schemas.openxmlformats.org/drawingml/2006/main">
              <a:ext uri="{FF2B5EF4-FFF2-40B4-BE49-F238E27FC236}">
                <a16:creationId xmlns:a16="http://schemas.microsoft.com/office/drawing/2014/main" id="{43F802CF-9D8C-4F44-B4C6-4C61F1557F91}"/>
              </a:ext>
            </a:extLst>
          </p:cNvPr>
          <p:cNvSpPr>
            <a:spLocks xmlns:a="http://schemas.openxmlformats.org/drawingml/2006/main" noGrp="1"/>
          </p:cNvSpPr>
          <p:nvPr/>
        </p:nvSpPr>
        <p:spPr>
          <a:xfrm xmlns:a="http://schemas.openxmlformats.org/drawingml/2006/main">
            <a:off x="590550" y="1809750"/>
            <a:ext cx="6610350" cy="38862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5EA9C1-16A5-44EA-B558-9811100DBF6B}"/>
              </a:ext>
            </a:extLst>
          </p:cNvPr>
          <p:cNvSpPr>
            <a:spLocks xmlns:a="http://schemas.openxmlformats.org/drawingml/2006/main" noGrp="1"/>
          </p:cNvSpPr>
          <p:nvPr/>
        </p:nvSpPr>
        <p:spPr>
          <a:xfrm xmlns:a="http://schemas.openxmlformats.org/drawingml/2006/main">
            <a:off x="781050" y="1962150"/>
            <a:ext cx="62293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86D8DD"/>
                </a:solidFill>
                <a:latin typeface="DejaVu Sans Mono"/>
                <a:ea typeface="DejaVu Sans Mono"/>
                <a:cs typeface="DejaVu Sans Mono"/>
              </a:rPr>
              <a:t>GeometryReader</a:t>
            </a:r>
            <a:r>
              <a:rPr sz="1500">
                <a:solidFill>
                  <a:srgbClr val="EDF0FC"/>
                </a:solidFill>
                <a:latin typeface="DejaVu Sans Mono"/>
                <a:ea typeface="DejaVu Sans Mono"/>
                <a:cs typeface="DejaVu Sans Mono"/>
              </a:rPr>
              <a:t> { </a:t>
            </a:r>
            <a:r>
              <a:rPr sz="1500">
                <a:solidFill>
                  <a:srgbClr val="EDF0FC"/>
                </a:solidFill>
                <a:latin typeface="DejaVu Sans Mono"/>
                <a:ea typeface="DejaVu Sans Mono"/>
                <a:cs typeface="DejaVu Sans Mono"/>
              </a:rPr>
              <a:t>proxy</a:t>
            </a:r>
            <a:r>
              <a:rPr sz="1500">
                <a:solidFill>
                  <a:srgbClr val="EDF0FC"/>
                </a:solidFill>
                <a:latin typeface="DejaVu Sans Mono"/>
                <a:ea typeface="DejaVu Sans Mono"/>
                <a:cs typeface="DejaVu Sans Mono"/>
              </a:rPr>
              <a:t> </a:t>
            </a:r>
            <a:r>
              <a:rPr sz="1500">
                <a:solidFill>
                  <a:srgbClr val="EFA8EB"/>
                </a:solidFill>
                <a:latin typeface="DejaVu Sans Mono"/>
                <a:ea typeface="DejaVu Sans Mono"/>
                <a:cs typeface="DejaVu Sans Mono"/>
              </a:rPr>
              <a:t>in</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FA8EB"/>
                </a:solidFill>
                <a:latin typeface="DejaVu Sans Mono"/>
                <a:ea typeface="DejaVu Sans Mono"/>
                <a:cs typeface="DejaVu Sans Mono"/>
              </a:rPr>
              <a:t>let</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divisions</a:t>
            </a:r>
            <a:r>
              <a:rPr sz="1500">
                <a:solidFill>
                  <a:srgbClr val="EDF0FC"/>
                </a:solidFill>
                <a:latin typeface="DejaVu Sans Mono"/>
                <a:ea typeface="DejaVu Sans Mono"/>
                <a:cs typeface="DejaVu Sans Mono"/>
              </a:rPr>
              <a:t> = </a:t>
            </a:r>
            <a:r>
              <a:rPr sz="1500">
                <a:solidFill>
                  <a:srgbClr val="EDF0FC"/>
                </a:solidFill>
                <a:latin typeface="DejaVu Sans Mono"/>
                <a:ea typeface="DejaVu Sans Mono"/>
                <a:cs typeface="DejaVu Sans Mono"/>
              </a:rPr>
              <a:t>proxy</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reservedRegions</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kind</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options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includeInactive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FA8EB"/>
                </a:solidFill>
                <a:latin typeface="DejaVu Sans Mono"/>
                <a:ea typeface="DejaVu Sans Mono"/>
                <a:cs typeface="DejaVu Sans Mono"/>
              </a:rPr>
              <a:t>let</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occlusions</a:t>
            </a:r>
            <a:r>
              <a:rPr sz="1500">
                <a:solidFill>
                  <a:srgbClr val="EDF0FC"/>
                </a:solidFill>
                <a:latin typeface="DejaVu Sans Mono"/>
                <a:ea typeface="DejaVu Sans Mono"/>
                <a:cs typeface="DejaVu Sans Mono"/>
              </a:rPr>
              <a:t> = </a:t>
            </a:r>
            <a:r>
              <a:rPr sz="1500">
                <a:solidFill>
                  <a:srgbClr val="EDF0FC"/>
                </a:solidFill>
                <a:latin typeface="DejaVu Sans Mono"/>
                <a:ea typeface="DejaVu Sans Mono"/>
                <a:cs typeface="DejaVu Sans Mono"/>
              </a:rPr>
              <a:t>proxy</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reservedRegions</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kind</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options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includeInactive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RegionInspector</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divisions</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filter</a:t>
            </a:r>
            <a:r>
              <a:rPr sz="1500">
                <a:solidFill>
                  <a:srgbClr val="EDF0FC"/>
                </a:solidFill>
                <a:latin typeface="DejaVu Sans Mono"/>
                <a:ea typeface="DejaVu Sans Mono"/>
                <a:cs typeface="DejaVu Sans Mono"/>
              </a:rPr>
              <a:t> { $</a:t>
            </a:r>
            <a:r>
              <a:rPr sz="1500">
                <a:solidFill>
                  <a:srgbClr val="B8D7A3"/>
                </a:solidFill>
                <a:latin typeface="DejaVu Sans Mono"/>
                <a:ea typeface="DejaVu Sans Mono"/>
                <a:cs typeface="DejaVu Sans Mono"/>
              </a:rPr>
              <a:t>0</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isActive</a:t>
            </a: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occlusions</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filter</a:t>
            </a:r>
            <a:r>
              <a:rPr sz="1500">
                <a:solidFill>
                  <a:srgbClr val="EDF0FC"/>
                </a:solidFill>
                <a:latin typeface="DejaVu Sans Mono"/>
                <a:ea typeface="DejaVu Sans Mono"/>
                <a:cs typeface="DejaVu Sans Mono"/>
              </a:rPr>
              <a:t> { $</a:t>
            </a:r>
            <a:r>
              <a:rPr sz="1500">
                <a:solidFill>
                  <a:srgbClr val="B8D7A3"/>
                </a:solidFill>
                <a:latin typeface="DejaVu Sans Mono"/>
                <a:ea typeface="DejaVu Sans Mono"/>
                <a:cs typeface="DejaVu Sans Mono"/>
              </a:rPr>
              <a:t>0</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isActive</a:t>
            </a: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CCAB5707-3813-4B83-8FD1-3C993992F9E4}"/>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diagram: camera occlusion region</a:t>
            </a:r>
          </a:p>
        </p:txBody>
      </p:sp>
      <p:sp>
        <p:nvSpPr>
          <p:cNvPr id="10" name="">
            <a:extLst xmlns:a="http://schemas.openxmlformats.org/drawingml/2006/main">
              <a:ext uri="{FF2B5EF4-FFF2-40B4-BE49-F238E27FC236}">
                <a16:creationId xmlns:a16="http://schemas.microsoft.com/office/drawing/2014/main" id="{3EC7078D-B00F-470D-B0DF-7EA5B96481DF}"/>
              </a:ext>
            </a:extLst>
          </p:cNvPr>
          <p:cNvSpPr>
            <a:spLocks xmlns:a="http://schemas.openxmlformats.org/drawingml/2006/main" noGrp="1"/>
          </p:cNvSpPr>
          <p:nvPr/>
        </p:nvSpPr>
        <p:spPr>
          <a:xfrm xmlns:a="http://schemas.openxmlformats.org/drawingml/2006/main">
            <a:off x="7524750" y="465772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1" name="">
            <a:extLst xmlns:a="http://schemas.openxmlformats.org/drawingml/2006/main">
              <a:ext uri="{FF2B5EF4-FFF2-40B4-BE49-F238E27FC236}">
                <a16:creationId xmlns:a16="http://schemas.microsoft.com/office/drawing/2014/main" id="{CB6D9C5F-EEAB-46D0-8E0D-21D35FE32EA1}"/>
              </a:ext>
            </a:extLst>
          </p:cNvPr>
          <p:cNvSpPr>
            <a:spLocks xmlns:a="http://schemas.openxmlformats.org/drawingml/2006/main" noGrp="1"/>
          </p:cNvSpPr>
          <p:nvPr/>
        </p:nvSpPr>
        <p:spPr>
          <a:xfrm xmlns:a="http://schemas.openxmlformats.org/drawingml/2006/main">
            <a:off x="7524750" y="5057775"/>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Active frames already include margins.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App code positions the custom button.</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 native toolbar keeps the action reachable.</a:t>
            </a:r>
          </a:p>
        </p:txBody>
      </p:sp>
      <p:sp>
        <p:nvSpPr>
          <p:cNvPr id="12" name="">
            <a:extLst xmlns:a="http://schemas.openxmlformats.org/drawingml/2006/main">
              <a:ext uri="{FF2B5EF4-FFF2-40B4-BE49-F238E27FC236}">
                <a16:creationId xmlns:a16="http://schemas.microsoft.com/office/drawing/2014/main" id="{DE311368-B18F-4CD3-993E-7094080179C6}"/>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includes live region inspection and control avoidance. Empty or inactive regions remain valid results.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bfade7050494e59"/>
          <a:srcRect xmlns:a="http://schemas.openxmlformats.org/drawingml/2006/main" l="33219" t="31165" r="34050" b="0"/>
          <a:stretch xmlns:a="http://schemas.openxmlformats.org/drawingml/2006/main"/>
        </p:blipFill>
        <p:spPr>
          <a:xfrm xmlns:a="http://schemas.openxmlformats.org/drawingml/2006/main">
            <a:off x="8436663" y="1809750"/>
            <a:ext cx="2252875" cy="2562225"/>
          </a:xfrm>
          <a:prstGeom xmlns:a="http://schemas.openxmlformats.org/drawingml/2006/main" prst="rect">
            <a:avLst/>
          </a:prstGeom>
        </p:spPr>
      </p:pic>
    </p:spTree>
    <p:extLst>
      <p:ext uri="{BB962C8B-B14F-4D97-AF65-F5344CB8AC3E}">
        <p14:creationId xmlns:p14="http://schemas.microsoft.com/office/powerpoint/2010/main" val="1384991428"/>
      </p:ext>
    </p:extLst>
  </p:cSld>
</p:sld>
</file>

<file path=ppt/slides/slide10.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E60BC2F-4D00-4B5F-853D-8A04331D1B95}"/>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Concentric corners</a:t>
            </a:r>
          </a:p>
        </p:txBody>
      </p:sp>
      <p:sp>
        <p:nvSpPr>
          <p:cNvPr id="2" name="">
            <a:extLst xmlns:a="http://schemas.openxmlformats.org/drawingml/2006/main">
              <a:ext uri="{FF2B5EF4-FFF2-40B4-BE49-F238E27FC236}">
                <a16:creationId xmlns:a16="http://schemas.microsoft.com/office/drawing/2014/main" id="{E2C3DB24-7F7B-480F-BFEF-6CAD7BCC3517}"/>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72C161-E3E3-48FF-BEE3-DB457389C826}"/>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ConcentricRectangle and UICornerConfiguration were introduced in iOS 26.</a:t>
            </a:r>
          </a:p>
        </p:txBody>
      </p:sp>
      <p:sp>
        <p:nvSpPr>
          <p:cNvPr id="4" name="">
            <a:extLst xmlns:a="http://schemas.openxmlformats.org/drawingml/2006/main">
              <a:ext uri="{FF2B5EF4-FFF2-40B4-BE49-F238E27FC236}">
                <a16:creationId xmlns:a16="http://schemas.microsoft.com/office/drawing/2014/main" id="{63C885C9-6340-481A-A2F1-E779DB64837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732F4E8-801E-4113-A07A-D46A772C102A}"/>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shape and UIKit view configuration</a:t>
            </a:r>
          </a:p>
        </p:txBody>
      </p:sp>
      <p:sp>
        <p:nvSpPr>
          <p:cNvPr id="6" name="">
            <a:extLst xmlns:a="http://schemas.openxmlformats.org/drawingml/2006/main">
              <a:ext uri="{FF2B5EF4-FFF2-40B4-BE49-F238E27FC236}">
                <a16:creationId xmlns:a16="http://schemas.microsoft.com/office/drawing/2014/main" id="{3DDADDD5-3012-488A-9BD0-E3FD0DA82682}"/>
              </a:ext>
            </a:extLst>
          </p:cNvPr>
          <p:cNvSpPr>
            <a:spLocks xmlns:a="http://schemas.openxmlformats.org/drawingml/2006/main" noGrp="1"/>
          </p:cNvSpPr>
          <p:nvPr/>
        </p:nvSpPr>
        <p:spPr>
          <a:xfrm xmlns:a="http://schemas.openxmlformats.org/drawingml/2006/main">
            <a:off x="590550" y="1809750"/>
            <a:ext cx="6610350" cy="28289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E9CE84-23B5-4FDF-8751-B27A61507D20}"/>
              </a:ext>
            </a:extLst>
          </p:cNvPr>
          <p:cNvSpPr>
            <a:spLocks xmlns:a="http://schemas.openxmlformats.org/drawingml/2006/main" noGrp="1"/>
          </p:cNvSpPr>
          <p:nvPr/>
        </p:nvSpPr>
        <p:spPr>
          <a:xfrm xmlns:a="http://schemas.openxmlformats.org/drawingml/2006/main">
            <a:off x="781050" y="1962150"/>
            <a:ext cx="62293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9AA9BC"/>
                </a:solidFill>
                <a:latin typeface="DejaVu Sans Mono"/>
                <a:ea typeface="DejaVu Sans Mono"/>
                <a:cs typeface="DejaVu Sans Mono"/>
              </a:rPr>
              <a:t>// SwiftUI decorative background</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86D8DD"/>
                </a:solidFill>
                <a:latin typeface="DejaVu Sans Mono"/>
                <a:ea typeface="DejaVu Sans Mono"/>
                <a:cs typeface="DejaVu Sans Mono"/>
              </a:rPr>
              <a:t>ConcentricRectangle</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fill</a:t>
            </a:r>
            <a:r>
              <a:rPr sz="1650">
                <a:solidFill>
                  <a:srgbClr val="EDF0FC"/>
                </a:solidFill>
                <a:latin typeface="DejaVu Sans Mono"/>
                <a:ea typeface="DejaVu Sans Mono"/>
                <a:cs typeface="DejaVu Sans Mono"/>
              </a:rPr>
              <a:t>(</a:t>
            </a:r>
            <a:r>
              <a:rPr sz="1650">
                <a:solidFill>
                  <a:srgbClr val="86D8DD"/>
                </a:solidFill>
                <a:latin typeface="DejaVu Sans Mono"/>
                <a:ea typeface="DejaVu Sans Mono"/>
                <a:cs typeface="DejaVu Sans Mono"/>
              </a:rPr>
              <a:t>Color</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green</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padding</a:t>
            </a:r>
            <a:r>
              <a:rPr sz="1650">
                <a:solidFill>
                  <a:srgbClr val="EDF0FC"/>
                </a:solidFill>
                <a:latin typeface="DejaVu Sans Mono"/>
                <a:ea typeface="DejaVu Sans Mono"/>
                <a:cs typeface="DejaVu Sans Mono"/>
              </a:rPr>
              <a:t>(</a:t>
            </a:r>
            <a:r>
              <a:rPr sz="1650">
                <a:solidFill>
                  <a:srgbClr val="B8D7A3"/>
                </a:solidFill>
                <a:latin typeface="DejaVu Sans Mono"/>
                <a:ea typeface="DejaVu Sans Mono"/>
                <a:cs typeface="DejaVu Sans Mono"/>
              </a:rPr>
              <a:t>8</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ignoresSafeArea</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9AA9BC"/>
                </a:solidFill>
                <a:latin typeface="DejaVu Sans Mono"/>
                <a:ea typeface="DejaVu Sans Mono"/>
                <a:cs typeface="DejaVu Sans Mono"/>
              </a:rPr>
              <a:t>// UIKit view configuration</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myView</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cornerConfiguration</a:t>
            </a:r>
            <a:r>
              <a:rPr sz="1650">
                <a:solidFill>
                  <a:srgbClr val="EDF0FC"/>
                </a:solidFill>
                <a:latin typeface="DejaVu Sans Mono"/>
                <a:ea typeface="DejaVu Sans Mono"/>
                <a:cs typeface="DejaVu Sans Mono"/>
              </a:rPr>
              <a:t> = .</a:t>
            </a:r>
            <a:r>
              <a:rPr sz="1650">
                <a:solidFill>
                  <a:srgbClr val="EDF0FC"/>
                </a:solidFill>
                <a:latin typeface="DejaVu Sans Mono"/>
                <a:ea typeface="DejaVu Sans Mono"/>
                <a:cs typeface="DejaVu Sans Mono"/>
              </a:rPr>
              <a:t>corners</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radius</a:t>
            </a: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containerConcentric</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F7B59D20-7017-486B-A352-1D1FF7E211E4}"/>
              </a:ext>
            </a:extLst>
          </p:cNvPr>
          <p:cNvSpPr>
            <a:spLocks xmlns:a="http://schemas.openxmlformats.org/drawingml/2006/main" noGrp="1"/>
          </p:cNvSpPr>
          <p:nvPr/>
        </p:nvSpPr>
        <p:spPr>
          <a:xfrm xmlns:a="http://schemas.openxmlformats.org/drawingml/2006/main">
            <a:off x="590550" y="5019675"/>
            <a:ext cx="6610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Use an iOS 26 availability guard.</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Keep a compatible rounded-shape fallback</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when supporting earlier versions.</a:t>
            </a:r>
          </a:p>
        </p:txBody>
      </p:sp>
      <p:sp>
        <p:nvSpPr>
          <p:cNvPr id="9" name="">
            <a:extLst xmlns:a="http://schemas.openxmlformats.org/drawingml/2006/main">
              <a:ext uri="{FF2B5EF4-FFF2-40B4-BE49-F238E27FC236}">
                <a16:creationId xmlns:a16="http://schemas.microsoft.com/office/drawing/2014/main" id="{98B18327-4398-4261-BE3C-D4E3D5005147}"/>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example: a concentric corner detail</a:t>
            </a:r>
          </a:p>
        </p:txBody>
      </p:sp>
      <p:sp>
        <p:nvSpPr>
          <p:cNvPr id="11" name="">
            <a:extLst xmlns:a="http://schemas.openxmlformats.org/drawingml/2006/main">
              <a:ext uri="{FF2B5EF4-FFF2-40B4-BE49-F238E27FC236}">
                <a16:creationId xmlns:a16="http://schemas.microsoft.com/office/drawing/2014/main" id="{A4247FA4-A22B-43A8-A6F5-0B660586C2E5}"/>
              </a:ext>
            </a:extLst>
          </p:cNvPr>
          <p:cNvSpPr>
            <a:spLocks xmlns:a="http://schemas.openxmlformats.org/drawingml/2006/main" noGrp="1"/>
          </p:cNvSpPr>
          <p:nvPr/>
        </p:nvSpPr>
        <p:spPr>
          <a:xfrm xmlns:a="http://schemas.openxmlformats.org/drawingml/2006/main">
            <a:off x="7524750" y="489585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2" name="">
            <a:extLst xmlns:a="http://schemas.openxmlformats.org/drawingml/2006/main">
              <a:ext uri="{FF2B5EF4-FFF2-40B4-BE49-F238E27FC236}">
                <a16:creationId xmlns:a16="http://schemas.microsoft.com/office/drawing/2014/main" id="{DF936B1E-63BC-4D27-BBBA-ED2CE2A8BCCF}"/>
              </a:ext>
            </a:extLst>
          </p:cNvPr>
          <p:cNvSpPr>
            <a:spLocks xmlns:a="http://schemas.openxmlformats.org/drawingml/2006/main" noGrp="1"/>
          </p:cNvSpPr>
          <p:nvPr/>
        </p:nvSpPr>
        <p:spPr>
          <a:xfrm xmlns:a="http://schemas.openxmlformats.org/drawingml/2006/main">
            <a:off x="7524750" y="529590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curve responds to its container.</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 single hard-coded corner radius cannot</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represent every containing screen shape.</a:t>
            </a:r>
          </a:p>
        </p:txBody>
      </p:sp>
      <p:sp>
        <p:nvSpPr>
          <p:cNvPr id="13" name="">
            <a:extLst xmlns:a="http://schemas.openxmlformats.org/drawingml/2006/main">
              <a:ext uri="{FF2B5EF4-FFF2-40B4-BE49-F238E27FC236}">
                <a16:creationId xmlns:a16="http://schemas.microsoft.com/office/drawing/2014/main" id="{6E706227-D4D0-4182-99A8-068B61294A0F}"/>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has SwiftUI and UIKit corner comparisons. Change the inset and compare concentric with fixed corners.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f9ef74334b049c5"/>
          <a:srcRect xmlns:a="http://schemas.openxmlformats.org/drawingml/2006/main" l="48828" t="34759" r="15283" b="0"/>
          <a:stretch xmlns:a="http://schemas.openxmlformats.org/drawingml/2006/main"/>
        </p:blipFill>
        <p:spPr>
          <a:xfrm xmlns:a="http://schemas.openxmlformats.org/drawingml/2006/main">
            <a:off x="8099802" y="1809750"/>
            <a:ext cx="2926595" cy="2914650"/>
          </a:xfrm>
          <a:prstGeom xmlns:a="http://schemas.openxmlformats.org/drawingml/2006/main" prst="rect">
            <a:avLst/>
          </a:prstGeom>
        </p:spPr>
      </p:pic>
    </p:spTree>
    <p:extLst>
      <p:ext uri="{BB962C8B-B14F-4D97-AF65-F5344CB8AC3E}">
        <p14:creationId xmlns:p14="http://schemas.microsoft.com/office/powerpoint/2010/main" val="402462069"/>
      </p:ext>
    </p:extLst>
  </p:cSld>
</p:sld>
</file>

<file path=ppt/slides/slide11.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7B1C11-00ED-4A5B-A4B3-81683DBD496B}"/>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Native toolbar actions</a:t>
            </a:r>
          </a:p>
        </p:txBody>
      </p:sp>
      <p:sp>
        <p:nvSpPr>
          <p:cNvPr id="2" name="">
            <a:extLst xmlns:a="http://schemas.openxmlformats.org/drawingml/2006/main">
              <a:ext uri="{FF2B5EF4-FFF2-40B4-BE49-F238E27FC236}">
                <a16:creationId xmlns:a16="http://schemas.microsoft.com/office/drawing/2014/main" id="{644975D2-A9C4-4BC8-9073-3CBBD887C47F}"/>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5358460-A2EA-4311-AECC-3D4280B85D1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cancellationAction is iOS 14+. topBarPinnedTrailing is iOS 27. Keep an older-OS placement fallback.</a:t>
            </a:r>
          </a:p>
        </p:txBody>
      </p:sp>
      <p:sp>
        <p:nvSpPr>
          <p:cNvPr id="4" name="">
            <a:extLst xmlns:a="http://schemas.openxmlformats.org/drawingml/2006/main">
              <a:ext uri="{FF2B5EF4-FFF2-40B4-BE49-F238E27FC236}">
                <a16:creationId xmlns:a16="http://schemas.microsoft.com/office/drawing/2014/main" id="{A1C08EFF-BEBA-42EB-991C-CA6E8FF37B4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B51BF24B-987F-4164-AAD5-E7BAF0891A0B}"/>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semantic toolbar placements</a:t>
            </a:r>
          </a:p>
        </p:txBody>
      </p:sp>
      <p:sp>
        <p:nvSpPr>
          <p:cNvPr id="6" name="">
            <a:extLst xmlns:a="http://schemas.openxmlformats.org/drawingml/2006/main">
              <a:ext uri="{FF2B5EF4-FFF2-40B4-BE49-F238E27FC236}">
                <a16:creationId xmlns:a16="http://schemas.microsoft.com/office/drawing/2014/main" id="{AF0224BD-4127-4C8E-89AB-2F5DE5002D5B}"/>
              </a:ext>
            </a:extLst>
          </p:cNvPr>
          <p:cNvSpPr>
            <a:spLocks xmlns:a="http://schemas.openxmlformats.org/drawingml/2006/main" noGrp="1"/>
          </p:cNvSpPr>
          <p:nvPr/>
        </p:nvSpPr>
        <p:spPr>
          <a:xfrm xmlns:a="http://schemas.openxmlformats.org/drawingml/2006/main">
            <a:off x="590550" y="1809750"/>
            <a:ext cx="6610350" cy="32861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18CBA17-1317-475B-8DFD-9FF91B410C8B}"/>
              </a:ext>
            </a:extLst>
          </p:cNvPr>
          <p:cNvSpPr>
            <a:spLocks xmlns:a="http://schemas.openxmlformats.org/drawingml/2006/main" noGrp="1"/>
          </p:cNvSpPr>
          <p:nvPr/>
        </p:nvSpPr>
        <p:spPr>
          <a:xfrm xmlns:a="http://schemas.openxmlformats.org/drawingml/2006/main">
            <a:off x="781050" y="1962150"/>
            <a:ext cx="6229350" cy="3019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toolbar</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placement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cancellationAction</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"Close"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F3B98D"/>
                </a:solidFill>
                <a:latin typeface="DejaVu Sans Mono"/>
                <a:ea typeface="DejaVu Sans Mono"/>
                <a:cs typeface="DejaVu Sans Mono"/>
              </a:rPr>
              <a:t>"xmark"</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dismiss</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placement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topBarPinnedTrailing</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"Send"</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F3B98D"/>
                </a:solidFill>
                <a:latin typeface="DejaVu Sans Mono"/>
                <a:ea typeface="DejaVu Sans Mono"/>
                <a:cs typeface="DejaVu Sans Mono"/>
              </a:rPr>
              <a:t>"arrow.up"</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send</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1AE938A9-4039-4669-BAE8-8D2BD52994CA}"/>
              </a:ext>
            </a:extLst>
          </p:cNvPr>
          <p:cNvSpPr>
            <a:spLocks xmlns:a="http://schemas.openxmlformats.org/drawingml/2006/main" noGrp="1"/>
          </p:cNvSpPr>
          <p:nvPr/>
        </p:nvSpPr>
        <p:spPr>
          <a:xfrm xmlns:a="http://schemas.openxmlformats.org/drawingml/2006/main">
            <a:off x="590550" y="5362575"/>
            <a:ext cx="661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UIKit: leadingItemGroups for close</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pinnedTrailingGroup for the prominent action</a:t>
            </a:r>
          </a:p>
        </p:txBody>
      </p:sp>
      <p:sp>
        <p:nvSpPr>
          <p:cNvPr id="9" name="">
            <a:extLst xmlns:a="http://schemas.openxmlformats.org/drawingml/2006/main">
              <a:ext uri="{FF2B5EF4-FFF2-40B4-BE49-F238E27FC236}">
                <a16:creationId xmlns:a16="http://schemas.microsoft.com/office/drawing/2014/main" id="{E41D3346-F106-4670-83F4-97780F1E15AF}"/>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close, then the prominent action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e76bc0c453c4943"/>
          <a:srcRect xmlns:a="http://schemas.openxmlformats.org/drawingml/2006/main" l="92041" t="13529" r="977" b="50426"/>
          <a:stretch xmlns:a="http://schemas.openxmlformats.org/drawingml/2006/main"/>
        </p:blipFill>
        <p:spPr>
          <a:xfrm xmlns:a="http://schemas.openxmlformats.org/drawingml/2006/main">
            <a:off x="7941000" y="1857375"/>
            <a:ext cx="1072500" cy="28575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3ef61b899bd480c"/>
          <a:srcRect xmlns:a="http://schemas.openxmlformats.org/drawingml/2006/main" l="91797" t="12705" r="977" b="50241"/>
          <a:stretch xmlns:a="http://schemas.openxmlformats.org/drawingml/2006/main"/>
        </p:blipFill>
        <p:spPr>
          <a:xfrm xmlns:a="http://schemas.openxmlformats.org/drawingml/2006/main">
            <a:off x="10099716" y="1857375"/>
            <a:ext cx="1098468" cy="2857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8ED2A07-1815-4F1D-9D4D-17954C790731}"/>
              </a:ext>
            </a:extLst>
          </p:cNvPr>
          <p:cNvSpPr>
            <a:spLocks xmlns:a="http://schemas.openxmlformats.org/drawingml/2006/main" noGrp="1"/>
          </p:cNvSpPr>
          <p:nvPr/>
        </p:nvSpPr>
        <p:spPr>
          <a:xfrm xmlns:a="http://schemas.openxmlformats.org/drawingml/2006/main">
            <a:off x="7524750" y="48387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10172A"/>
                </a:solidFill>
                <a:latin typeface="Arial"/>
                <a:ea typeface="Arial"/>
                <a:cs typeface="Arial"/>
              </a:defRPr>
            </a:pPr>
            <a:r>
              <a:rPr sz="1725" b="1">
                <a:solidFill>
                  <a:srgbClr val="10172A"/>
                </a:solidFill>
                <a:latin typeface="Arial"/>
                <a:ea typeface="Arial"/>
                <a:cs typeface="Arial"/>
              </a:rPr>
              <a:t>Close</a:t>
            </a:r>
          </a:p>
        </p:txBody>
      </p:sp>
      <p:sp>
        <p:nvSpPr>
          <p:cNvPr id="13" name="">
            <a:extLst xmlns:a="http://schemas.openxmlformats.org/drawingml/2006/main">
              <a:ext uri="{FF2B5EF4-FFF2-40B4-BE49-F238E27FC236}">
                <a16:creationId xmlns:a16="http://schemas.microsoft.com/office/drawing/2014/main" id="{E10A1CBC-B03E-40FA-9860-C6747101B66C}"/>
              </a:ext>
            </a:extLst>
          </p:cNvPr>
          <p:cNvSpPr>
            <a:spLocks xmlns:a="http://schemas.openxmlformats.org/drawingml/2006/main" noGrp="1"/>
          </p:cNvSpPr>
          <p:nvPr/>
        </p:nvSpPr>
        <p:spPr>
          <a:xfrm xmlns:a="http://schemas.openxmlformats.org/drawingml/2006/main">
            <a:off x="9696450" y="48387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10172A"/>
                </a:solidFill>
                <a:latin typeface="Arial"/>
                <a:ea typeface="Arial"/>
                <a:cs typeface="Arial"/>
              </a:defRPr>
            </a:pPr>
            <a:r>
              <a:rPr sz="1725" b="1">
                <a:solidFill>
                  <a:srgbClr val="10172A"/>
                </a:solidFill>
                <a:latin typeface="Arial"/>
                <a:ea typeface="Arial"/>
                <a:cs typeface="Arial"/>
              </a:rPr>
              <a:t>Prominent action</a:t>
            </a:r>
          </a:p>
        </p:txBody>
      </p:sp>
      <p:sp>
        <p:nvSpPr>
          <p:cNvPr id="14" name="">
            <a:extLst xmlns:a="http://schemas.openxmlformats.org/drawingml/2006/main">
              <a:ext uri="{FF2B5EF4-FFF2-40B4-BE49-F238E27FC236}">
                <a16:creationId xmlns:a16="http://schemas.microsoft.com/office/drawing/2014/main" id="{200B88D0-BD88-433E-9FEE-1FA6E7CA052F}"/>
              </a:ext>
            </a:extLst>
          </p:cNvPr>
          <p:cNvSpPr>
            <a:spLocks xmlns:a="http://schemas.openxmlformats.org/drawingml/2006/main" noGrp="1"/>
          </p:cNvSpPr>
          <p:nvPr/>
        </p:nvSpPr>
        <p:spPr>
          <a:xfrm xmlns:a="http://schemas.openxmlformats.org/drawingml/2006/main">
            <a:off x="7524750" y="5295900"/>
            <a:ext cx="4076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The container adapts the bar.</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Placement describes each action’s role.</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Keep a title and a working action.</a:t>
            </a:r>
          </a:p>
        </p:txBody>
      </p:sp>
      <p:sp>
        <p:nvSpPr>
          <p:cNvPr id="15" name="">
            <a:extLst xmlns:a="http://schemas.openxmlformats.org/drawingml/2006/main">
              <a:ext uri="{FF2B5EF4-FFF2-40B4-BE49-F238E27FC236}">
                <a16:creationId xmlns:a16="http://schemas.microsoft.com/office/drawing/2014/main" id="{BBEB9426-0199-433D-B2AC-B1823CF318AA}"/>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The SwiftUI and UIKit toolbar demos use real actions, native containers and semantic placements.</a:t>
            </a:r>
          </a:p>
        </p:txBody>
      </p:sp>
    </p:spTree>
    <p:extLst>
      <p:ext uri="{BB962C8B-B14F-4D97-AF65-F5344CB8AC3E}">
        <p14:creationId xmlns:p14="http://schemas.microsoft.com/office/powerpoint/2010/main" val="1228277742"/>
      </p:ext>
    </p:extLst>
  </p:cSld>
</p:sld>
</file>

<file path=ppt/slides/slide12.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43BEA1-406B-4389-8C29-EFD39B9FE57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Overflow priority and compression</a:t>
            </a:r>
          </a:p>
        </p:txBody>
      </p:sp>
      <p:sp>
        <p:nvSpPr>
          <p:cNvPr id="2" name="">
            <a:extLst xmlns:a="http://schemas.openxmlformats.org/drawingml/2006/main">
              <a:ext uri="{FF2B5EF4-FFF2-40B4-BE49-F238E27FC236}">
                <a16:creationId xmlns:a16="http://schemas.microsoft.com/office/drawing/2014/main" id="{FEDAC724-FDAD-4522-8457-FF610D97AE37}"/>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B77865-B346-4851-B63C-E9CD285124F0}"/>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visibilityPriority and ToolbarOverflowMenu are iOS 27. Compression preference is iOS 27.1 beta.</a:t>
            </a:r>
          </a:p>
        </p:txBody>
      </p:sp>
      <p:sp>
        <p:nvSpPr>
          <p:cNvPr id="4" name="">
            <a:extLst xmlns:a="http://schemas.openxmlformats.org/drawingml/2006/main">
              <a:ext uri="{FF2B5EF4-FFF2-40B4-BE49-F238E27FC236}">
                <a16:creationId xmlns:a16="http://schemas.microsoft.com/office/drawing/2014/main" id="{8A2174A1-348C-47BE-9B84-947550EF4BB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803188B4-4CA2-4DDA-9524-826B8ECC06C4}"/>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API Lab: priority, overflow and compression</a:t>
            </a:r>
          </a:p>
        </p:txBody>
      </p:sp>
      <p:sp>
        <p:nvSpPr>
          <p:cNvPr id="6" name="">
            <a:extLst xmlns:a="http://schemas.openxmlformats.org/drawingml/2006/main">
              <a:ext uri="{FF2B5EF4-FFF2-40B4-BE49-F238E27FC236}">
                <a16:creationId xmlns:a16="http://schemas.microsoft.com/office/drawing/2014/main" id="{3B2F8C4C-2BA1-4DA1-9171-CA79D478B414}"/>
              </a:ext>
            </a:extLst>
          </p:cNvPr>
          <p:cNvSpPr>
            <a:spLocks xmlns:a="http://schemas.openxmlformats.org/drawingml/2006/main" noGrp="1"/>
          </p:cNvSpPr>
          <p:nvPr/>
        </p:nvSpPr>
        <p:spPr>
          <a:xfrm xmlns:a="http://schemas.openxmlformats.org/drawingml/2006/main">
            <a:off x="590550" y="1809750"/>
            <a:ext cx="6610350" cy="395287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F2F225-3E39-47F3-BC6F-F8FF02B131D2}"/>
              </a:ext>
            </a:extLst>
          </p:cNvPr>
          <p:cNvSpPr>
            <a:spLocks xmlns:a="http://schemas.openxmlformats.org/drawingml/2006/main" noGrp="1"/>
          </p:cNvSpPr>
          <p:nvPr/>
        </p:nvSpPr>
        <p:spPr>
          <a:xfrm xmlns:a="http://schemas.openxmlformats.org/drawingml/2006/main">
            <a:off x="781050" y="1962150"/>
            <a:ext cx="6229350" cy="3686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toolbar</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ToolbarItem</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"Review"</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F3B98D"/>
                </a:solidFill>
                <a:latin typeface="DejaVu Sans Mono"/>
                <a:ea typeface="DejaVu Sans Mono"/>
                <a:cs typeface="DejaVu Sans Mono"/>
              </a:rPr>
              <a:t>"checkmark"</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action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review</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visibilityPriority</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high</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ToolbarOverflowMenu</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"Export report"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action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export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"Reset preview"</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action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reset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toolbarVerticalCompressionBehavior</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prefersToolbarItems</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F4AED6D5-33CA-4C6B-A846-620EACD4AEBE}"/>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one system overflow menu</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401f46418c94a75"/>
          <a:srcRect xmlns:a="http://schemas.openxmlformats.org/drawingml/2006/main" l="82829" t="27746" r="908" b="1927"/>
          <a:stretch xmlns:a="http://schemas.openxmlformats.org/drawingml/2006/main"/>
        </p:blipFill>
        <p:spPr>
          <a:xfrm xmlns:a="http://schemas.openxmlformats.org/drawingml/2006/main">
            <a:off x="9156330" y="1809750"/>
            <a:ext cx="813539" cy="2762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E9E5733-7C01-49BA-A67F-886FB74D3997}"/>
              </a:ext>
            </a:extLst>
          </p:cNvPr>
          <p:cNvSpPr>
            <a:spLocks xmlns:a="http://schemas.openxmlformats.org/drawingml/2006/main" noGrp="1"/>
          </p:cNvSpPr>
          <p:nvPr/>
        </p:nvSpPr>
        <p:spPr>
          <a:xfrm xmlns:a="http://schemas.openxmlformats.org/drawingml/2006/main">
            <a:off x="7524750" y="4781550"/>
            <a:ext cx="4076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10172A"/>
                </a:solidFill>
                <a:latin typeface="Arial"/>
                <a:ea typeface="Arial"/>
                <a:cs typeface="Arial"/>
              </a:defRPr>
            </a:pPr>
            <a:r>
              <a:rPr sz="1800" b="1">
                <a:solidFill>
                  <a:srgbClr val="10172A"/>
                </a:solidFill>
                <a:latin typeface="Arial"/>
                <a:ea typeface="Arial"/>
                <a:cs typeface="Arial"/>
              </a:rPr>
              <a:t>Priority</a:t>
            </a:r>
          </a:p>
        </p:txBody>
      </p:sp>
      <p:sp>
        <p:nvSpPr>
          <p:cNvPr id="11" name="">
            <a:extLst xmlns:a="http://schemas.openxmlformats.org/drawingml/2006/main">
              <a:ext uri="{FF2B5EF4-FFF2-40B4-BE49-F238E27FC236}">
                <a16:creationId xmlns:a16="http://schemas.microsoft.com/office/drawing/2014/main" id="{1F5F490C-2B1C-4707-A54F-172CD68DB29C}"/>
              </a:ext>
            </a:extLst>
          </p:cNvPr>
          <p:cNvSpPr>
            <a:spLocks xmlns:a="http://schemas.openxmlformats.org/drawingml/2006/main" noGrp="1"/>
          </p:cNvSpPr>
          <p:nvPr/>
        </p:nvSpPr>
        <p:spPr>
          <a:xfrm xmlns:a="http://schemas.openxmlformats.org/drawingml/2006/main">
            <a:off x="7524750" y="5105400"/>
            <a:ext cx="4076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High priority delays an action’s overflow.</a:t>
            </a:r>
          </a:p>
        </p:txBody>
      </p:sp>
      <p:sp>
        <p:nvSpPr>
          <p:cNvPr id="12" name="">
            <a:extLst xmlns:a="http://schemas.openxmlformats.org/drawingml/2006/main">
              <a:ext uri="{FF2B5EF4-FFF2-40B4-BE49-F238E27FC236}">
                <a16:creationId xmlns:a16="http://schemas.microsoft.com/office/drawing/2014/main" id="{8062C707-1158-4B5B-A430-731B710AD6FD}"/>
              </a:ext>
            </a:extLst>
          </p:cNvPr>
          <p:cNvSpPr>
            <a:spLocks xmlns:a="http://schemas.openxmlformats.org/drawingml/2006/main" noGrp="1"/>
          </p:cNvSpPr>
          <p:nvPr/>
        </p:nvSpPr>
        <p:spPr>
          <a:xfrm xmlns:a="http://schemas.openxmlformats.org/drawingml/2006/main">
            <a:off x="7524750" y="5495925"/>
            <a:ext cx="4076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10172A"/>
                </a:solidFill>
                <a:latin typeface="Arial"/>
                <a:ea typeface="Arial"/>
                <a:cs typeface="Arial"/>
              </a:defRPr>
            </a:pPr>
            <a:r>
              <a:rPr sz="1800" b="1">
                <a:solidFill>
                  <a:srgbClr val="10172A"/>
                </a:solidFill>
                <a:latin typeface="Arial"/>
                <a:ea typeface="Arial"/>
                <a:cs typeface="Arial"/>
              </a:rPr>
              <a:t>Compression</a:t>
            </a:r>
          </a:p>
        </p:txBody>
      </p:sp>
      <p:sp>
        <p:nvSpPr>
          <p:cNvPr id="13" name="">
            <a:extLst xmlns:a="http://schemas.openxmlformats.org/drawingml/2006/main">
              <a:ext uri="{FF2B5EF4-FFF2-40B4-BE49-F238E27FC236}">
                <a16:creationId xmlns:a16="http://schemas.microsoft.com/office/drawing/2014/main" id="{48BFE93D-574B-4752-B26F-D2C27F37B0D8}"/>
              </a:ext>
            </a:extLst>
          </p:cNvPr>
          <p:cNvSpPr>
            <a:spLocks xmlns:a="http://schemas.openxmlformats.org/drawingml/2006/main" noGrp="1"/>
          </p:cNvSpPr>
          <p:nvPr/>
        </p:nvSpPr>
        <p:spPr>
          <a:xfrm xmlns:a="http://schemas.openxmlformats.org/drawingml/2006/main">
            <a:off x="7524750" y="581025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This preference compresses tabs first.</a:t>
            </a:r>
          </a:p>
        </p:txBody>
      </p:sp>
      <p:sp>
        <p:nvSpPr>
          <p:cNvPr id="14" name="">
            <a:extLst xmlns:a="http://schemas.openxmlformats.org/drawingml/2006/main">
              <a:ext uri="{FF2B5EF4-FFF2-40B4-BE49-F238E27FC236}">
                <a16:creationId xmlns:a16="http://schemas.microsoft.com/office/drawing/2014/main" id="{ED906849-ED69-4825-9D9B-109E65983E73}"/>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includes selectable priorities and compression, with working actions in the system overflow menu.</a:t>
            </a:r>
          </a:p>
        </p:txBody>
      </p:sp>
    </p:spTree>
    <p:extLst>
      <p:ext uri="{BB962C8B-B14F-4D97-AF65-F5344CB8AC3E}">
        <p14:creationId xmlns:p14="http://schemas.microsoft.com/office/powerpoint/2010/main" val="1521375685"/>
      </p:ext>
    </p:extLst>
  </p:cSld>
</p:sld>
</file>

<file path=ppt/slides/slide13.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C022B8-2D67-497E-A2E1-5AF79EB90F9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Custom controls in vertical bars</a:t>
            </a:r>
          </a:p>
        </p:txBody>
      </p:sp>
      <p:sp>
        <p:nvSpPr>
          <p:cNvPr id="2" name="">
            <a:extLst xmlns:a="http://schemas.openxmlformats.org/drawingml/2006/main">
              <a:ext uri="{FF2B5EF4-FFF2-40B4-BE49-F238E27FC236}">
                <a16:creationId xmlns:a16="http://schemas.microsoft.com/office/drawing/2014/main" id="{9319D17C-8EF3-4A77-9ED8-8951C933AFDE}"/>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078C3D-4A2A-4AA4-AD36-6012D02FF427}"/>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toolbarVerticalEdge and UIKit verticalBarEdge are iOS 27.1 beta. Use availability and SDK guards.</a:t>
            </a:r>
          </a:p>
        </p:txBody>
      </p:sp>
      <p:sp>
        <p:nvSpPr>
          <p:cNvPr id="4" name="">
            <a:extLst xmlns:a="http://schemas.openxmlformats.org/drawingml/2006/main">
              <a:ext uri="{FF2B5EF4-FFF2-40B4-BE49-F238E27FC236}">
                <a16:creationId xmlns:a16="http://schemas.microsoft.com/office/drawing/2014/main" id="{C67B217F-C178-4690-BFE4-7B93E7E7BB6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BC4BD313-8534-4850-95B6-991AF3A9A1DD}"/>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a compact representation with a title</a:t>
            </a:r>
          </a:p>
        </p:txBody>
      </p:sp>
      <p:sp>
        <p:nvSpPr>
          <p:cNvPr id="6" name="">
            <a:extLst xmlns:a="http://schemas.openxmlformats.org/drawingml/2006/main">
              <a:ext uri="{FF2B5EF4-FFF2-40B4-BE49-F238E27FC236}">
                <a16:creationId xmlns:a16="http://schemas.microsoft.com/office/drawing/2014/main" id="{E02B1B7F-0E0B-4A4E-9110-4BE3D95C8FAC}"/>
              </a:ext>
            </a:extLst>
          </p:cNvPr>
          <p:cNvSpPr>
            <a:spLocks xmlns:a="http://schemas.openxmlformats.org/drawingml/2006/main" noGrp="1"/>
          </p:cNvSpPr>
          <p:nvPr/>
        </p:nvSpPr>
        <p:spPr>
          <a:xfrm xmlns:a="http://schemas.openxmlformats.org/drawingml/2006/main">
            <a:off x="590550" y="1809750"/>
            <a:ext cx="6610350" cy="34385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8D3F75-BA2D-4B4D-8EFE-8BF471084CB6}"/>
              </a:ext>
            </a:extLst>
          </p:cNvPr>
          <p:cNvSpPr>
            <a:spLocks xmlns:a="http://schemas.openxmlformats.org/drawingml/2006/main" noGrp="1"/>
          </p:cNvSpPr>
          <p:nvPr/>
        </p:nvSpPr>
        <p:spPr>
          <a:xfrm xmlns:a="http://schemas.openxmlformats.org/drawingml/2006/main">
            <a:off x="781050" y="1962150"/>
            <a:ext cx="62293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FA8EB"/>
                </a:solidFill>
                <a:latin typeface="DejaVu Sans Mono"/>
                <a:ea typeface="DejaVu Sans Mono"/>
                <a:cs typeface="DejaVu Sans Mono"/>
              </a:rPr>
              <a:t>struct</a:t>
            </a: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ReviewControl</a:t>
            </a: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@Environment</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toolbarVerticalEdge</a:t>
            </a: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private</a:t>
            </a: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var</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edge</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let</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 -&gt; </a:t>
            </a:r>
            <a:r>
              <a:rPr sz="1388">
                <a:solidFill>
                  <a:srgbClr val="86D8DD"/>
                </a:solidFill>
                <a:latin typeface="DejaVu Sans Mono"/>
                <a:ea typeface="DejaVu Sans Mono"/>
                <a:cs typeface="DejaVu Sans Mono"/>
              </a:rPr>
              <a:t>Void</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var</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body</a:t>
            </a: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some</a:t>
            </a: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Button</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action</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if</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edge</a:t>
            </a:r>
            <a:r>
              <a:rPr sz="1388">
                <a:solidFill>
                  <a:srgbClr val="EDF0FC"/>
                </a:solidFill>
                <a:latin typeface="DejaVu Sans Mono"/>
                <a:ea typeface="DejaVu Sans Mono"/>
                <a:cs typeface="DejaVu Sans Mono"/>
              </a:rPr>
              <a:t> != </a:t>
            </a:r>
            <a:r>
              <a:rPr sz="1388">
                <a:solidFill>
                  <a:srgbClr val="EFA8EB"/>
                </a:solidFill>
                <a:latin typeface="DejaVu Sans Mono"/>
                <a:ea typeface="DejaVu Sans Mono"/>
                <a:cs typeface="DejaVu Sans Mono"/>
              </a:rPr>
              <a:t>nil</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Label</a:t>
            </a:r>
            <a:r>
              <a:rPr sz="1388">
                <a:solidFill>
                  <a:srgbClr val="EDF0FC"/>
                </a:solidFill>
                <a:latin typeface="DejaVu Sans Mono"/>
                <a:ea typeface="DejaVu Sans Mono"/>
                <a:cs typeface="DejaVu Sans Mono"/>
              </a:rPr>
              <a:t>(</a:t>
            </a:r>
            <a:r>
              <a:rPr sz="1388">
                <a:solidFill>
                  <a:srgbClr val="F3B98D"/>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systemImage</a:t>
            </a:r>
            <a:r>
              <a:rPr sz="1388">
                <a:solidFill>
                  <a:srgbClr val="EDF0FC"/>
                </a:solidFill>
                <a:latin typeface="DejaVu Sans Mono"/>
                <a:ea typeface="DejaVu Sans Mono"/>
                <a:cs typeface="DejaVu Sans Mono"/>
              </a:rPr>
              <a:t>: </a:t>
            </a:r>
            <a:r>
              <a:rPr sz="1388">
                <a:solidFill>
                  <a:srgbClr val="F3B98D"/>
                </a:solidFill>
                <a:latin typeface="DejaVu Sans Mono"/>
                <a:ea typeface="DejaVu Sans Mono"/>
                <a:cs typeface="DejaVu Sans Mono"/>
              </a:rPr>
              <a:t>"checkmark"</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labelStyle</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iconOnly</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 </a:t>
            </a:r>
            <a:r>
              <a:rPr sz="1388">
                <a:solidFill>
                  <a:srgbClr val="EFA8EB"/>
                </a:solidFill>
                <a:latin typeface="DejaVu Sans Mono"/>
                <a:ea typeface="DejaVu Sans Mono"/>
                <a:cs typeface="DejaVu Sans Mono"/>
              </a:rPr>
              <a:t>else</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Label</a:t>
            </a:r>
            <a:r>
              <a:rPr sz="1388">
                <a:solidFill>
                  <a:srgbClr val="EDF0FC"/>
                </a:solidFill>
                <a:latin typeface="DejaVu Sans Mono"/>
                <a:ea typeface="DejaVu Sans Mono"/>
                <a:cs typeface="DejaVu Sans Mono"/>
              </a:rPr>
              <a:t>(</a:t>
            </a:r>
            <a:r>
              <a:rPr sz="1388">
                <a:solidFill>
                  <a:srgbClr val="F3B98D"/>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systemImage</a:t>
            </a:r>
            <a:r>
              <a:rPr sz="1388">
                <a:solidFill>
                  <a:srgbClr val="EDF0FC"/>
                </a:solidFill>
                <a:latin typeface="DejaVu Sans Mono"/>
                <a:ea typeface="DejaVu Sans Mono"/>
                <a:cs typeface="DejaVu Sans Mono"/>
              </a:rPr>
              <a:t>: </a:t>
            </a:r>
            <a:r>
              <a:rPr sz="1388">
                <a:solidFill>
                  <a:srgbClr val="F3B98D"/>
                </a:solidFill>
                <a:latin typeface="DejaVu Sans Mono"/>
                <a:ea typeface="DejaVu Sans Mono"/>
                <a:cs typeface="DejaVu Sans Mono"/>
              </a:rPr>
              <a:t>"checkmark"</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labelStyle</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titleAndIcon</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DDBF9DEF-0016-4DF1-81FE-C7DB8D81D853}"/>
              </a:ext>
            </a:extLst>
          </p:cNvPr>
          <p:cNvSpPr>
            <a:spLocks xmlns:a="http://schemas.openxmlformats.org/drawingml/2006/main" noGrp="1"/>
          </p:cNvSpPr>
          <p:nvPr/>
        </p:nvSpPr>
        <p:spPr>
          <a:xfrm xmlns:a="http://schemas.openxmlformats.org/drawingml/2006/main">
            <a:off x="590550" y="5353050"/>
            <a:ext cx="6610350" cy="6477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D8449E-BEF2-4D80-BC66-B6D5A9D3DE99}"/>
              </a:ext>
            </a:extLst>
          </p:cNvPr>
          <p:cNvSpPr>
            <a:spLocks xmlns:a="http://schemas.openxmlformats.org/drawingml/2006/main" noGrp="1"/>
          </p:cNvSpPr>
          <p:nvPr/>
        </p:nvSpPr>
        <p:spPr>
          <a:xfrm xmlns:a="http://schemas.openxmlformats.org/drawingml/2006/main">
            <a:off x="781050" y="5505450"/>
            <a:ext cx="622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86D8DD"/>
                </a:solidFill>
                <a:latin typeface="DejaVu Sans Mono"/>
                <a:ea typeface="DejaVu Sans Mono"/>
                <a:cs typeface="DejaVu Sans Mono"/>
              </a:rPr>
              <a:t>ToolbarItem</a:t>
            </a:r>
            <a:r>
              <a:rPr sz="1388">
                <a:solidFill>
                  <a:srgbClr val="EDF0FC"/>
                </a:solidFill>
                <a:latin typeface="DejaVu Sans Mono"/>
                <a:ea typeface="DejaVu Sans Mono"/>
                <a:cs typeface="DejaVu Sans Mono"/>
              </a:rPr>
              <a:t> { </a:t>
            </a:r>
            <a:r>
              <a:rPr sz="1388">
                <a:solidFill>
                  <a:srgbClr val="86D8DD"/>
                </a:solidFill>
                <a:latin typeface="DejaVu Sans Mono"/>
                <a:ea typeface="DejaVu Sans Mono"/>
                <a:cs typeface="DejaVu Sans Mono"/>
              </a:rPr>
              <a:t>ReviewControl</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axisBehavior</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verticalPreferred</a:t>
            </a:r>
            <a:r>
              <a:rPr sz="1388">
                <a:solidFill>
                  <a:srgbClr val="EDF0FC"/>
                </a:solidFill>
                <a:latin typeface="DejaVu Sans Mono"/>
                <a:ea typeface="DejaVu Sans Mono"/>
                <a:cs typeface="DejaVu Sans Mono"/>
              </a:rPr>
              <a:t>)</a:t>
            </a:r>
          </a:p>
        </p:txBody>
      </p:sp>
      <p:sp>
        <p:nvSpPr>
          <p:cNvPr id="10" name="">
            <a:extLst xmlns:a="http://schemas.openxmlformats.org/drawingml/2006/main">
              <a:ext uri="{FF2B5EF4-FFF2-40B4-BE49-F238E27FC236}">
                <a16:creationId xmlns:a16="http://schemas.microsoft.com/office/drawing/2014/main" id="{1AA8EDB5-0B5E-45C3-9CAC-B525DDEBF691}"/>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different bar backgrounds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4e9095140fc4ce4"/>
          <a:srcRect xmlns:a="http://schemas.openxmlformats.org/drawingml/2006/main" l="13086" t="7771" r="6836" b="2904"/>
          <a:stretch xmlns:a="http://schemas.openxmlformats.org/drawingml/2006/main"/>
        </p:blipFill>
        <p:spPr>
          <a:xfrm xmlns:a="http://schemas.openxmlformats.org/drawingml/2006/main">
            <a:off x="7957691" y="1809750"/>
            <a:ext cx="3210817" cy="20478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5BA1E27-C4A1-4D34-9E86-E5ED9669B8E8}"/>
              </a:ext>
            </a:extLst>
          </p:cNvPr>
          <p:cNvSpPr>
            <a:spLocks xmlns:a="http://schemas.openxmlformats.org/drawingml/2006/main" noGrp="1"/>
          </p:cNvSpPr>
          <p:nvPr/>
        </p:nvSpPr>
        <p:spPr>
          <a:xfrm xmlns:a="http://schemas.openxmlformats.org/drawingml/2006/main">
            <a:off x="7524750" y="405765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UIKit equivalent trait</a:t>
            </a:r>
          </a:p>
        </p:txBody>
      </p:sp>
      <p:sp>
        <p:nvSpPr>
          <p:cNvPr id="13" name="">
            <a:extLst xmlns:a="http://schemas.openxmlformats.org/drawingml/2006/main">
              <a:ext uri="{FF2B5EF4-FFF2-40B4-BE49-F238E27FC236}">
                <a16:creationId xmlns:a16="http://schemas.microsoft.com/office/drawing/2014/main" id="{A5F0B620-8155-4280-BEFC-73F8D00929F5}"/>
              </a:ext>
            </a:extLst>
          </p:cNvPr>
          <p:cNvSpPr>
            <a:spLocks xmlns:a="http://schemas.openxmlformats.org/drawingml/2006/main" noGrp="1"/>
          </p:cNvSpPr>
          <p:nvPr/>
        </p:nvSpPr>
        <p:spPr>
          <a:xfrm xmlns:a="http://schemas.openxmlformats.org/drawingml/2006/main">
            <a:off x="7524750" y="4419600"/>
            <a:ext cx="4076700" cy="5810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E4399E5-4A8B-4FDF-939C-15B4A83520E1}"/>
              </a:ext>
            </a:extLst>
          </p:cNvPr>
          <p:cNvSpPr>
            <a:spLocks xmlns:a="http://schemas.openxmlformats.org/drawingml/2006/main" noGrp="1"/>
          </p:cNvSpPr>
          <p:nvPr/>
        </p:nvSpPr>
        <p:spPr>
          <a:xfrm xmlns:a="http://schemas.openxmlformats.org/drawingml/2006/main">
            <a:off x="7715250" y="4572000"/>
            <a:ext cx="3695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425" b="0">
                <a:solidFill>
                  <a:srgbClr val="EDF0FC"/>
                </a:solidFill>
                <a:latin typeface="DejaVu Sans Mono"/>
                <a:ea typeface="DejaVu Sans Mono"/>
                <a:cs typeface="DejaVu Sans Mono"/>
              </a:defRPr>
            </a:pPr>
            <a:r>
              <a:rPr sz="1425">
                <a:solidFill>
                  <a:srgbClr val="EDF0FC"/>
                </a:solidFill>
                <a:latin typeface="DejaVu Sans Mono"/>
                <a:ea typeface="DejaVu Sans Mono"/>
                <a:cs typeface="DejaVu Sans Mono"/>
              </a:rPr>
              <a:t>traitCollection</a:t>
            </a:r>
            <a:r>
              <a:rPr sz="1425">
                <a:solidFill>
                  <a:srgbClr val="EDF0FC"/>
                </a:solidFill>
                <a:latin typeface="DejaVu Sans Mono"/>
                <a:ea typeface="DejaVu Sans Mono"/>
                <a:cs typeface="DejaVu Sans Mono"/>
              </a:rPr>
              <a:t>.</a:t>
            </a:r>
            <a:r>
              <a:rPr sz="1425">
                <a:solidFill>
                  <a:srgbClr val="EDF0FC"/>
                </a:solidFill>
                <a:latin typeface="DejaVu Sans Mono"/>
                <a:ea typeface="DejaVu Sans Mono"/>
                <a:cs typeface="DejaVu Sans Mono"/>
              </a:rPr>
              <a:t>verticalBarEdge</a:t>
            </a:r>
          </a:p>
        </p:txBody>
      </p:sp>
      <p:sp>
        <p:nvSpPr>
          <p:cNvPr id="15" name="">
            <a:extLst xmlns:a="http://schemas.openxmlformats.org/drawingml/2006/main">
              <a:ext uri="{FF2B5EF4-FFF2-40B4-BE49-F238E27FC236}">
                <a16:creationId xmlns:a16="http://schemas.microsoft.com/office/drawing/2014/main" id="{A61547B2-C05D-4093-AA81-F5BFA458D799}"/>
              </a:ext>
            </a:extLst>
          </p:cNvPr>
          <p:cNvSpPr>
            <a:spLocks xmlns:a="http://schemas.openxmlformats.org/drawingml/2006/main" noGrp="1"/>
          </p:cNvSpPr>
          <p:nvPr/>
        </p:nvSpPr>
        <p:spPr>
          <a:xfrm xmlns:a="http://schemas.openxmlformats.org/drawingml/2006/main">
            <a:off x="7524750" y="5276850"/>
            <a:ext cx="4076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The preferred edge may exist while hidden.</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Check legibility with Reduce Transparency.</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Keep titles available for accessibility.</a:t>
            </a:r>
          </a:p>
        </p:txBody>
      </p:sp>
      <p:sp>
        <p:nvSpPr>
          <p:cNvPr id="16" name="">
            <a:extLst xmlns:a="http://schemas.openxmlformats.org/drawingml/2006/main">
              <a:ext uri="{FF2B5EF4-FFF2-40B4-BE49-F238E27FC236}">
                <a16:creationId xmlns:a16="http://schemas.microsoft.com/office/drawing/2014/main" id="{E0931617-4C3E-4D8A-815D-F67E6395A5C9}"/>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compares custom control axes and preferred-edge adaptation. Actions also remain reachable in the content.</a:t>
            </a:r>
          </a:p>
        </p:txBody>
      </p:sp>
    </p:spTree>
    <p:extLst>
      <p:ext uri="{BB962C8B-B14F-4D97-AF65-F5344CB8AC3E}">
        <p14:creationId xmlns:p14="http://schemas.microsoft.com/office/powerpoint/2010/main" val="848370740"/>
      </p:ext>
    </p:extLst>
  </p:cSld>
</p:sld>
</file>

<file path=ppt/slides/slide14.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2AFC0A-1146-4762-B5A1-D9E99A553A6A}"/>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Adaptive sheets and presentations</a:t>
            </a:r>
          </a:p>
        </p:txBody>
      </p:sp>
      <p:sp>
        <p:nvSpPr>
          <p:cNvPr id="2" name="">
            <a:extLst xmlns:a="http://schemas.openxmlformats.org/drawingml/2006/main">
              <a:ext uri="{FF2B5EF4-FFF2-40B4-BE49-F238E27FC236}">
                <a16:creationId xmlns:a16="http://schemas.microsoft.com/office/drawing/2014/main" id="{0072F744-F925-4931-A59C-F3549DC77626}"/>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B9FDEC-552D-4059-A9D0-4E8DB1505F8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sheet is iOS 13+. NavigationStack and presentationDetents in this pattern require iOS 16+.</a:t>
            </a:r>
          </a:p>
        </p:txBody>
      </p:sp>
      <p:sp>
        <p:nvSpPr>
          <p:cNvPr id="4" name="">
            <a:extLst xmlns:a="http://schemas.openxmlformats.org/drawingml/2006/main">
              <a:ext uri="{FF2B5EF4-FFF2-40B4-BE49-F238E27FC236}">
                <a16:creationId xmlns:a16="http://schemas.microsoft.com/office/drawing/2014/main" id="{0E9FA72E-7C02-4F6B-B52E-622F96EEB6F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403E3EE0-0C52-4149-9509-B657FF92A9DE}"/>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Native sheet pattern with shared parent state</a:t>
            </a:r>
          </a:p>
        </p:txBody>
      </p:sp>
      <p:sp>
        <p:nvSpPr>
          <p:cNvPr id="6" name="">
            <a:extLst xmlns:a="http://schemas.openxmlformats.org/drawingml/2006/main">
              <a:ext uri="{FF2B5EF4-FFF2-40B4-BE49-F238E27FC236}">
                <a16:creationId xmlns:a16="http://schemas.microsoft.com/office/drawing/2014/main" id="{8C5EE8F3-9431-4A39-8D1E-4070A9EFD9CD}"/>
              </a:ext>
            </a:extLst>
          </p:cNvPr>
          <p:cNvSpPr>
            <a:spLocks xmlns:a="http://schemas.openxmlformats.org/drawingml/2006/main" noGrp="1"/>
          </p:cNvSpPr>
          <p:nvPr/>
        </p:nvSpPr>
        <p:spPr>
          <a:xfrm xmlns:a="http://schemas.openxmlformats.org/drawingml/2006/main">
            <a:off x="590550" y="1809750"/>
            <a:ext cx="6610350" cy="34766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B92F73-4240-48E5-AD23-6101FBDEA0EE}"/>
              </a:ext>
            </a:extLst>
          </p:cNvPr>
          <p:cNvSpPr>
            <a:spLocks xmlns:a="http://schemas.openxmlformats.org/drawingml/2006/main" noGrp="1"/>
          </p:cNvSpPr>
          <p:nvPr/>
        </p:nvSpPr>
        <p:spPr>
          <a:xfrm xmlns:a="http://schemas.openxmlformats.org/drawingml/2006/main">
            <a:off x="781050" y="1962150"/>
            <a:ext cx="622935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@State</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private</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var</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showsAudit</a:t>
            </a:r>
            <a:r>
              <a:rPr sz="1575">
                <a:solidFill>
                  <a:srgbClr val="EDF0FC"/>
                </a:solidFill>
                <a:latin typeface="DejaVu Sans Mono"/>
                <a:ea typeface="DejaVu Sans Mono"/>
                <a:cs typeface="DejaVu Sans Mono"/>
              </a:rPr>
              <a:t> = </a:t>
            </a:r>
            <a:r>
              <a:rPr sz="1575">
                <a:solidFill>
                  <a:srgbClr val="EFA8EB"/>
                </a:solidFill>
                <a:latin typeface="DejaVu Sans Mono"/>
                <a:ea typeface="DejaVu Sans Mono"/>
                <a:cs typeface="DejaVu Sans Mono"/>
              </a:rPr>
              <a:t>false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9AA9BC"/>
                </a:solidFill>
                <a:latin typeface="DejaVu Sans Mono"/>
                <a:ea typeface="DejaVu Sans Mono"/>
                <a:cs typeface="DejaVu Sans Mono"/>
              </a:rPr>
              <a:t>// Inside the presenting view's body:</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"Layout Review"</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showsAudit</a:t>
            </a:r>
            <a:r>
              <a:rPr sz="1575">
                <a:solidFill>
                  <a:srgbClr val="EDF0FC"/>
                </a:solidFill>
                <a:latin typeface="DejaVu Sans Mono"/>
                <a:ea typeface="DejaVu Sans Mono"/>
                <a:cs typeface="DejaVu Sans Mono"/>
              </a:rPr>
              <a:t> = </a:t>
            </a:r>
            <a:r>
              <a:rPr sz="1575">
                <a:solidFill>
                  <a:srgbClr val="EFA8EB"/>
                </a:solidFill>
                <a:latin typeface="DejaVu Sans Mono"/>
                <a:ea typeface="DejaVu Sans Mono"/>
                <a:cs typeface="DejaVu Sans Mono"/>
              </a:rPr>
              <a:t>true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sheet</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isPresented</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showsAudit</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NavigationStack</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ReviewContent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navigationTitle</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"Layout Review"</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presentationDetents</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medium</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large</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D036F601-0AF3-4089-A955-559BD429BD6D}"/>
              </a:ext>
            </a:extLst>
          </p:cNvPr>
          <p:cNvSpPr>
            <a:spLocks xmlns:a="http://schemas.openxmlformats.org/drawingml/2006/main" noGrp="1"/>
          </p:cNvSpPr>
          <p:nvPr/>
        </p:nvSpPr>
        <p:spPr>
          <a:xfrm xmlns:a="http://schemas.openxmlformats.org/drawingml/2006/main">
            <a:off x="590550" y="5495925"/>
            <a:ext cx="6610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API Lab includes an editable sheet with detents.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parent retains its draft during resizing.</a:t>
            </a:r>
          </a:p>
        </p:txBody>
      </p:sp>
      <p:sp>
        <p:nvSpPr>
          <p:cNvPr id="9" name="">
            <a:extLst xmlns:a="http://schemas.openxmlformats.org/drawingml/2006/main">
              <a:ext uri="{FF2B5EF4-FFF2-40B4-BE49-F238E27FC236}">
                <a16:creationId xmlns:a16="http://schemas.microsoft.com/office/drawing/2014/main" id="{2CB216F9-9B9A-4A15-B518-87D74DF96352}"/>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sheet clear of the fold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70d45fc1d174ca1"/>
          <a:srcRect xmlns:a="http://schemas.openxmlformats.org/drawingml/2006/main" l="20833" t="8889" r="20625" b="8889"/>
          <a:stretch xmlns:a="http://schemas.openxmlformats.org/drawingml/2006/main"/>
        </p:blipFill>
        <p:spPr>
          <a:xfrm xmlns:a="http://schemas.openxmlformats.org/drawingml/2006/main">
            <a:off x="7802863" y="1809750"/>
            <a:ext cx="3520474" cy="27813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FC6CB12-0387-40DA-AE48-613C20869DE1}"/>
              </a:ext>
            </a:extLst>
          </p:cNvPr>
          <p:cNvSpPr>
            <a:spLocks xmlns:a="http://schemas.openxmlformats.org/drawingml/2006/main" noGrp="1"/>
          </p:cNvSpPr>
          <p:nvPr/>
        </p:nvSpPr>
        <p:spPr>
          <a:xfrm xmlns:a="http://schemas.openxmlformats.org/drawingml/2006/main">
            <a:off x="7524750" y="484822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2" name="">
            <a:extLst xmlns:a="http://schemas.openxmlformats.org/drawingml/2006/main">
              <a:ext uri="{FF2B5EF4-FFF2-40B4-BE49-F238E27FC236}">
                <a16:creationId xmlns:a16="http://schemas.microsoft.com/office/drawing/2014/main" id="{AAC2A6EA-F3B1-4989-8A2A-47B3B2E4D3CE}"/>
              </a:ext>
            </a:extLst>
          </p:cNvPr>
          <p:cNvSpPr>
            <a:spLocks xmlns:a="http://schemas.openxmlformats.org/drawingml/2006/main" noGrp="1"/>
          </p:cNvSpPr>
          <p:nvPr/>
        </p:nvSpPr>
        <p:spPr>
          <a:xfrm xmlns:a="http://schemas.openxmlformats.org/drawingml/2006/main">
            <a:off x="7524750" y="5248275"/>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system positions the sheet and bars.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Custom controls still need fitting.</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Scrolling content may cross the fold.</a:t>
            </a:r>
          </a:p>
        </p:txBody>
      </p:sp>
      <p:sp>
        <p:nvSpPr>
          <p:cNvPr id="13" name="">
            <a:extLst xmlns:a="http://schemas.openxmlformats.org/drawingml/2006/main">
              <a:ext uri="{FF2B5EF4-FFF2-40B4-BE49-F238E27FC236}">
                <a16:creationId xmlns:a16="http://schemas.microsoft.com/office/drawing/2014/main" id="{44A9F7C7-BF68-409F-B312-EDC032BF1C15}"/>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also includes a popover, alert and action menu. The toolbar demo compares vertical-bar preferences.</a:t>
            </a:r>
          </a:p>
        </p:txBody>
      </p:sp>
    </p:spTree>
    <p:extLst>
      <p:ext uri="{BB962C8B-B14F-4D97-AF65-F5344CB8AC3E}">
        <p14:creationId xmlns:p14="http://schemas.microsoft.com/office/powerpoint/2010/main" val="2089701769"/>
      </p:ext>
    </p:extLst>
  </p:cSld>
</p:sld>
</file>

<file path=ppt/slides/slide15.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FE084C-1DCD-480B-BA37-BDE73323586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0172A"/>
                </a:solidFill>
                <a:latin typeface="Arial"/>
                <a:ea typeface="Arial"/>
                <a:cs typeface="Arial"/>
              </a:defRPr>
            </a:pPr>
            <a:r>
              <a:rPr sz="2550" b="1">
                <a:solidFill>
                  <a:srgbClr val="10172A"/>
                </a:solidFill>
                <a:latin typeface="Arial"/>
                <a:ea typeface="Arial"/>
                <a:cs typeface="Arial"/>
              </a:rPr>
              <a:t>App Resizability in Xcode 27.1</a:t>
            </a:r>
          </a:p>
        </p:txBody>
      </p:sp>
      <p:sp>
        <p:nvSpPr>
          <p:cNvPr id="2" name="">
            <a:extLst xmlns:a="http://schemas.openxmlformats.org/drawingml/2006/main">
              <a:ext uri="{FF2B5EF4-FFF2-40B4-BE49-F238E27FC236}">
                <a16:creationId xmlns:a16="http://schemas.microsoft.com/office/drawing/2014/main" id="{38113111-8B23-4120-9264-BCED47CC10DD}"/>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521594-628F-4EB3-B23D-668F842BCAD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46516B"/>
                </a:solidFill>
                <a:latin typeface="Arial"/>
                <a:ea typeface="Arial"/>
                <a:cs typeface="Arial"/>
              </a:defRPr>
            </a:pPr>
            <a:r>
              <a:rPr sz="1425" b="0">
                <a:solidFill>
                  <a:srgbClr val="46516B"/>
                </a:solidFill>
                <a:latin typeface="Arial"/>
                <a:ea typeface="Arial"/>
                <a:cs typeface="Arial"/>
              </a:rPr>
              <a:t>Apple’s coding skill helps an agent update source across an existing project.</a:t>
            </a:r>
          </a:p>
        </p:txBody>
      </p:sp>
      <p:sp>
        <p:nvSpPr>
          <p:cNvPr id="4" name="">
            <a:extLst xmlns:a="http://schemas.openxmlformats.org/drawingml/2006/main">
              <a:ext uri="{FF2B5EF4-FFF2-40B4-BE49-F238E27FC236}">
                <a16:creationId xmlns:a16="http://schemas.microsoft.com/office/drawing/2014/main" id="{EEA0495A-62BB-4E09-BC91-7BEB4EA450D3}"/>
              </a:ext>
            </a:extLst>
          </p:cNvPr>
          <p:cNvSpPr>
            <a:spLocks xmlns:a="http://schemas.openxmlformats.org/drawingml/2006/main" noGrp="1"/>
          </p:cNvSpPr>
          <p:nvPr/>
        </p:nvSpPr>
        <p:spPr>
          <a:xfrm xmlns:a="http://schemas.openxmlformats.org/drawingml/2006/main">
            <a:off x="590550" y="1409700"/>
            <a:ext cx="7277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Apple’s example: replace a global screen assumption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9dae733defb4f7c"/>
          <a:stretch xmlns:a="http://schemas.openxmlformats.org/drawingml/2006/main"/>
        </p:blipFill>
        <p:spPr>
          <a:xfrm xmlns:a="http://schemas.openxmlformats.org/drawingml/2006/main">
            <a:off x="590550" y="1871651"/>
            <a:ext cx="7277100" cy="355856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8D67EF-10D3-413B-9827-7D651838BC1A}"/>
              </a:ext>
            </a:extLst>
          </p:cNvPr>
          <p:cNvSpPr>
            <a:spLocks xmlns:a="http://schemas.openxmlformats.org/drawingml/2006/main" noGrp="1"/>
          </p:cNvSpPr>
          <p:nvPr/>
        </p:nvSpPr>
        <p:spPr>
          <a:xfrm xmlns:a="http://schemas.openxmlformats.org/drawingml/2006/main">
            <a:off x="8248650" y="1524000"/>
            <a:ext cx="335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0172A"/>
                </a:solidFill>
                <a:latin typeface="Arial"/>
                <a:ea typeface="Arial"/>
                <a:cs typeface="Arial"/>
              </a:defRPr>
            </a:pPr>
            <a:r>
              <a:rPr sz="1875" b="1">
                <a:solidFill>
                  <a:srgbClr val="10172A"/>
                </a:solidFill>
                <a:latin typeface="Arial"/>
                <a:ea typeface="Arial"/>
                <a:cs typeface="Arial"/>
              </a:rPr>
              <a:t>1. Inspect the workspace</a:t>
            </a:r>
          </a:p>
        </p:txBody>
      </p:sp>
      <p:sp>
        <p:nvSpPr>
          <p:cNvPr id="7" name="">
            <a:extLst xmlns:a="http://schemas.openxmlformats.org/drawingml/2006/main">
              <a:ext uri="{FF2B5EF4-FFF2-40B4-BE49-F238E27FC236}">
                <a16:creationId xmlns:a16="http://schemas.microsoft.com/office/drawing/2014/main" id="{0987DE7E-7300-4588-A48E-2D6B8D2A7ADD}"/>
              </a:ext>
            </a:extLst>
          </p:cNvPr>
          <p:cNvSpPr>
            <a:spLocks xmlns:a="http://schemas.openxmlformats.org/drawingml/2006/main" noGrp="1"/>
          </p:cNvSpPr>
          <p:nvPr/>
        </p:nvSpPr>
        <p:spPr>
          <a:xfrm xmlns:a="http://schemas.openxmlformats.org/drawingml/2006/main">
            <a:off x="8248650" y="1933575"/>
            <a:ext cx="335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6516B"/>
                </a:solidFill>
                <a:latin typeface="Arial"/>
                <a:ea typeface="Arial"/>
                <a:cs typeface="Arial"/>
              </a:defRPr>
            </a:pPr>
            <a:r>
              <a:rPr sz="1725" b="0">
                <a:solidFill>
                  <a:srgbClr val="46516B"/>
                </a:solidFill>
                <a:latin typeface="Arial"/>
                <a:ea typeface="Arial"/>
                <a:cs typeface="Arial"/>
              </a:rPr>
              <a:t>Ask the skill to review resizing,</a:t>
            </a:r>
          </a:p>
          <a:p xmlns:a="http://schemas.openxmlformats.org/drawingml/2006/main">
            <a:pPr>
              <a:defRPr sz="1725" b="0">
                <a:solidFill>
                  <a:srgbClr val="46516B"/>
                </a:solidFill>
                <a:latin typeface="Arial"/>
                <a:ea typeface="Arial"/>
                <a:cs typeface="Arial"/>
              </a:defRPr>
            </a:pPr>
            <a:r>
              <a:rPr sz="1725" b="0">
                <a:solidFill>
                  <a:srgbClr val="46516B"/>
                </a:solidFill>
                <a:latin typeface="Arial"/>
                <a:ea typeface="Arial"/>
                <a:cs typeface="Arial"/>
              </a:rPr>
              <a:t>local geometry and safe areas.</a:t>
            </a:r>
          </a:p>
        </p:txBody>
      </p:sp>
      <p:sp>
        <p:nvSpPr>
          <p:cNvPr id="8" name="">
            <a:extLst xmlns:a="http://schemas.openxmlformats.org/drawingml/2006/main">
              <a:ext uri="{FF2B5EF4-FFF2-40B4-BE49-F238E27FC236}">
                <a16:creationId xmlns:a16="http://schemas.microsoft.com/office/drawing/2014/main" id="{CD76DC4A-DE59-488E-ABFB-E8AECC8D1E87}"/>
              </a:ext>
            </a:extLst>
          </p:cNvPr>
          <p:cNvSpPr>
            <a:spLocks xmlns:a="http://schemas.openxmlformats.org/drawingml/2006/main" noGrp="1"/>
          </p:cNvSpPr>
          <p:nvPr/>
        </p:nvSpPr>
        <p:spPr>
          <a:xfrm xmlns:a="http://schemas.openxmlformats.org/drawingml/2006/main">
            <a:off x="8248650" y="3048000"/>
            <a:ext cx="335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0172A"/>
                </a:solidFill>
                <a:latin typeface="Arial"/>
                <a:ea typeface="Arial"/>
                <a:cs typeface="Arial"/>
              </a:defRPr>
            </a:pPr>
            <a:r>
              <a:rPr sz="1875" b="1">
                <a:solidFill>
                  <a:srgbClr val="10172A"/>
                </a:solidFill>
                <a:latin typeface="Arial"/>
                <a:ea typeface="Arial"/>
                <a:cs typeface="Arial"/>
              </a:rPr>
              <a:t>2. Review the changes</a:t>
            </a:r>
          </a:p>
        </p:txBody>
      </p:sp>
      <p:sp>
        <p:nvSpPr>
          <p:cNvPr id="9" name="">
            <a:extLst xmlns:a="http://schemas.openxmlformats.org/drawingml/2006/main">
              <a:ext uri="{FF2B5EF4-FFF2-40B4-BE49-F238E27FC236}">
                <a16:creationId xmlns:a16="http://schemas.microsoft.com/office/drawing/2014/main" id="{CE0D212B-07C5-41FF-8FA4-F31558BA176A}"/>
              </a:ext>
            </a:extLst>
          </p:cNvPr>
          <p:cNvSpPr>
            <a:spLocks xmlns:a="http://schemas.openxmlformats.org/drawingml/2006/main" noGrp="1"/>
          </p:cNvSpPr>
          <p:nvPr/>
        </p:nvSpPr>
        <p:spPr>
          <a:xfrm xmlns:a="http://schemas.openxmlformats.org/drawingml/2006/main">
            <a:off x="8248650" y="3457575"/>
            <a:ext cx="335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6516B"/>
                </a:solidFill>
                <a:latin typeface="Arial"/>
                <a:ea typeface="Arial"/>
                <a:cs typeface="Arial"/>
              </a:defRPr>
            </a:pPr>
            <a:r>
              <a:rPr sz="1725" b="0">
                <a:solidFill>
                  <a:srgbClr val="46516B"/>
                </a:solidFill>
                <a:latin typeface="Arial"/>
                <a:ea typeface="Arial"/>
                <a:cs typeface="Arial"/>
              </a:rPr>
              <a:t>Check state ownership and</a:t>
            </a:r>
          </a:p>
          <a:p xmlns:a="http://schemas.openxmlformats.org/drawingml/2006/main">
            <a:pPr>
              <a:defRPr sz="1725" b="0">
                <a:solidFill>
                  <a:srgbClr val="46516B"/>
                </a:solidFill>
                <a:latin typeface="Arial"/>
                <a:ea typeface="Arial"/>
                <a:cs typeface="Arial"/>
              </a:defRPr>
            </a:pPr>
            <a:r>
              <a:rPr sz="1725" b="0">
                <a:solidFill>
                  <a:srgbClr val="46516B"/>
                </a:solidFill>
                <a:latin typeface="Arial"/>
                <a:ea typeface="Arial"/>
                <a:cs typeface="Arial"/>
              </a:rPr>
              <a:t>older-OS fallbacks in the diff.</a:t>
            </a:r>
          </a:p>
        </p:txBody>
      </p:sp>
      <p:sp>
        <p:nvSpPr>
          <p:cNvPr id="10" name="">
            <a:extLst xmlns:a="http://schemas.openxmlformats.org/drawingml/2006/main">
              <a:ext uri="{FF2B5EF4-FFF2-40B4-BE49-F238E27FC236}">
                <a16:creationId xmlns:a16="http://schemas.microsoft.com/office/drawing/2014/main" id="{50ADBE33-D987-4668-80B2-EC370C8D7D9F}"/>
              </a:ext>
            </a:extLst>
          </p:cNvPr>
          <p:cNvSpPr>
            <a:spLocks xmlns:a="http://schemas.openxmlformats.org/drawingml/2006/main" noGrp="1"/>
          </p:cNvSpPr>
          <p:nvPr/>
        </p:nvSpPr>
        <p:spPr>
          <a:xfrm xmlns:a="http://schemas.openxmlformats.org/drawingml/2006/main">
            <a:off x="8248650" y="4572000"/>
            <a:ext cx="335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0172A"/>
                </a:solidFill>
                <a:latin typeface="Arial"/>
                <a:ea typeface="Arial"/>
                <a:cs typeface="Arial"/>
              </a:defRPr>
            </a:pPr>
            <a:r>
              <a:rPr sz="1875" b="1">
                <a:solidFill>
                  <a:srgbClr val="10172A"/>
                </a:solidFill>
                <a:latin typeface="Arial"/>
                <a:ea typeface="Arial"/>
                <a:cs typeface="Arial"/>
              </a:rPr>
              <a:t>3. Build and resize</a:t>
            </a:r>
          </a:p>
        </p:txBody>
      </p:sp>
      <p:sp>
        <p:nvSpPr>
          <p:cNvPr id="11" name="">
            <a:extLst xmlns:a="http://schemas.openxmlformats.org/drawingml/2006/main">
              <a:ext uri="{FF2B5EF4-FFF2-40B4-BE49-F238E27FC236}">
                <a16:creationId xmlns:a16="http://schemas.microsoft.com/office/drawing/2014/main" id="{91FA4E91-6C8F-438E-96BE-E3E99894ECFE}"/>
              </a:ext>
            </a:extLst>
          </p:cNvPr>
          <p:cNvSpPr>
            <a:spLocks xmlns:a="http://schemas.openxmlformats.org/drawingml/2006/main" noGrp="1"/>
          </p:cNvSpPr>
          <p:nvPr/>
        </p:nvSpPr>
        <p:spPr>
          <a:xfrm xmlns:a="http://schemas.openxmlformats.org/drawingml/2006/main">
            <a:off x="8248650" y="4981575"/>
            <a:ext cx="335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6516B"/>
                </a:solidFill>
                <a:latin typeface="Arial"/>
                <a:ea typeface="Arial"/>
                <a:cs typeface="Arial"/>
              </a:defRPr>
            </a:pPr>
            <a:r>
              <a:rPr sz="1725" b="0">
                <a:solidFill>
                  <a:srgbClr val="46516B"/>
                </a:solidFill>
                <a:latin typeface="Arial"/>
                <a:ea typeface="Arial"/>
                <a:cs typeface="Arial"/>
              </a:rPr>
              <a:t>Validate the updated UI on</a:t>
            </a:r>
          </a:p>
          <a:p xmlns:a="http://schemas.openxmlformats.org/drawingml/2006/main">
            <a:pPr>
              <a:defRPr sz="1725" b="0">
                <a:solidFill>
                  <a:srgbClr val="46516B"/>
                </a:solidFill>
                <a:latin typeface="Arial"/>
                <a:ea typeface="Arial"/>
                <a:cs typeface="Arial"/>
              </a:defRPr>
            </a:pPr>
            <a:r>
              <a:rPr sz="1725" b="0">
                <a:solidFill>
                  <a:srgbClr val="46516B"/>
                </a:solidFill>
                <a:latin typeface="Arial"/>
                <a:ea typeface="Arial"/>
                <a:cs typeface="Arial"/>
              </a:rPr>
              <a:t>ordinary iPhones and Duo.</a:t>
            </a:r>
          </a:p>
        </p:txBody>
      </p:sp>
      <p:sp>
        <p:nvSpPr>
          <p:cNvPr id="12" name="">
            <a:extLst xmlns:a="http://schemas.openxmlformats.org/drawingml/2006/main">
              <a:ext uri="{FF2B5EF4-FFF2-40B4-BE49-F238E27FC236}">
                <a16:creationId xmlns:a16="http://schemas.microsoft.com/office/drawing/2014/main" id="{D75FBA3F-49EF-470C-BABB-3969CD4B8B94}"/>
              </a:ext>
            </a:extLst>
          </p:cNvPr>
          <p:cNvSpPr>
            <a:spLocks xmlns:a="http://schemas.openxmlformats.org/drawingml/2006/main" noGrp="1"/>
          </p:cNvSpPr>
          <p:nvPr/>
        </p:nvSpPr>
        <p:spPr>
          <a:xfrm xmlns:a="http://schemas.openxmlformats.org/drawingml/2006/main">
            <a:off x="590550" y="5638800"/>
            <a:ext cx="7277100" cy="4667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51D24A-3930-400F-845D-8982D601FF4C}"/>
              </a:ext>
            </a:extLst>
          </p:cNvPr>
          <p:cNvSpPr>
            <a:spLocks xmlns:a="http://schemas.openxmlformats.org/drawingml/2006/main" noGrp="1"/>
          </p:cNvSpPr>
          <p:nvPr/>
        </p:nvSpPr>
        <p:spPr>
          <a:xfrm xmlns:a="http://schemas.openxmlformats.org/drawingml/2006/main">
            <a:off x="742950" y="5743575"/>
            <a:ext cx="6972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DF0FC"/>
                </a:solidFill>
                <a:latin typeface="DejaVu Sans Mono"/>
                <a:ea typeface="DejaVu Sans Mono"/>
                <a:cs typeface="DejaVu Sans Mono"/>
              </a:defRPr>
            </a:pPr>
            <a:r>
              <a:rPr sz="1725" b="0">
                <a:solidFill>
                  <a:srgbClr val="EDF0FC"/>
                </a:solidFill>
                <a:latin typeface="DejaVu Sans Mono"/>
                <a:ea typeface="DejaVu Sans Mono"/>
                <a:cs typeface="DejaVu Sans Mono"/>
              </a:rPr>
              <a:t>let screenScale = traitCollection.displayScale</a:t>
            </a:r>
          </a:p>
        </p:txBody>
      </p:sp>
      <p:sp>
        <p:nvSpPr>
          <p:cNvPr id="14" name="">
            <a:extLst xmlns:a="http://schemas.openxmlformats.org/drawingml/2006/main">
              <a:ext uri="{FF2B5EF4-FFF2-40B4-BE49-F238E27FC236}">
                <a16:creationId xmlns:a16="http://schemas.microsoft.com/office/drawing/2014/main" id="{3520848A-456B-46CE-9923-E86D0993A942}"/>
              </a:ext>
            </a:extLst>
          </p:cNvPr>
          <p:cNvSpPr>
            <a:spLocks xmlns:a="http://schemas.openxmlformats.org/drawingml/2006/main" noGrp="1"/>
          </p:cNvSpPr>
          <p:nvPr/>
        </p:nvSpPr>
        <p:spPr>
          <a:xfrm xmlns:a="http://schemas.openxmlformats.org/drawingml/2006/main">
            <a:off x="590550" y="62198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46516B"/>
                </a:solidFill>
                <a:latin typeface="Arial"/>
                <a:ea typeface="Arial"/>
                <a:cs typeface="Arial"/>
              </a:defRPr>
            </a:pPr>
            <a:r>
              <a:rPr sz="1350" b="0">
                <a:solidFill>
                  <a:srgbClr val="46516B"/>
                </a:solidFill>
                <a:latin typeface="Arial"/>
                <a:ea typeface="Arial"/>
                <a:cs typeface="Arial"/>
              </a:rPr>
              <a:t>The skill edits source during development. Native containers handle adaptation while the app runs.</a:t>
            </a:r>
          </a:p>
        </p:txBody>
      </p:sp>
      <p:sp>
        <p:nvSpPr>
          <p:cNvPr id="15" name="">
            <a:extLst xmlns:a="http://schemas.openxmlformats.org/drawingml/2006/main">
              <a:ext uri="{FF2B5EF4-FFF2-40B4-BE49-F238E27FC236}">
                <a16:creationId xmlns:a16="http://schemas.microsoft.com/office/drawing/2014/main" id="{100F904A-897A-4F20-8B81-CDE55A41674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E7891"/>
                </a:solidFill>
                <a:latin typeface="Arial"/>
                <a:ea typeface="Arial"/>
                <a:cs typeface="Arial"/>
              </a:defRPr>
            </a:pPr>
            <a:r>
              <a:rPr sz="1200" b="0">
                <a:solidFill>
                  <a:srgbClr val="6E7891"/>
                </a:solidFill>
                <a:latin typeface="Arial"/>
                <a:ea typeface="Arial"/>
                <a:cs typeface="Arial"/>
              </a:rPr>
              <a:t>15</a:t>
            </a:r>
          </a:p>
        </p:txBody>
      </p:sp>
    </p:spTree>
    <p:extLst>
      <p:ext uri="{BB962C8B-B14F-4D97-AF65-F5344CB8AC3E}">
        <p14:creationId xmlns:p14="http://schemas.microsoft.com/office/powerpoint/2010/main" val="1384530412"/>
      </p:ext>
    </p:extLst>
  </p:cSld>
</p:sld>
</file>

<file path=ppt/slides/slide16.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BEBA38-4160-4357-A495-7D2ACCF98192}"/>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Migration of the existing app</a:t>
            </a:r>
          </a:p>
        </p:txBody>
      </p:sp>
      <p:sp>
        <p:nvSpPr>
          <p:cNvPr id="2" name="">
            <a:extLst xmlns:a="http://schemas.openxmlformats.org/drawingml/2006/main">
              <a:ext uri="{FF2B5EF4-FFF2-40B4-BE49-F238E27FC236}">
                <a16:creationId xmlns:a16="http://schemas.microsoft.com/office/drawing/2014/main" id="{2C338ADF-996D-4379-BC35-9810E40F82C2}"/>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BA8A78-0853-44D4-AEF7-82F881785208}"/>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Eight interactive API Lab routes share the existing app. Keep build compatibility and validate each environment.</a:t>
            </a:r>
          </a:p>
        </p:txBody>
      </p:sp>
      <p:sp>
        <p:nvSpPr>
          <p:cNvPr id="4" name="">
            <a:extLst xmlns:a="http://schemas.openxmlformats.org/drawingml/2006/main">
              <a:ext uri="{FF2B5EF4-FFF2-40B4-BE49-F238E27FC236}">
                <a16:creationId xmlns:a16="http://schemas.microsoft.com/office/drawing/2014/main" id="{7D8D8754-FC3E-4027-BCCE-5A0E76D1CAE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A7DECAC2-9D8A-42B7-985C-7958E84EC051}"/>
              </a:ext>
            </a:extLst>
          </p:cNvPr>
          <p:cNvSpPr>
            <a:spLocks xmlns:a="http://schemas.openxmlformats.org/drawingml/2006/main" noGrp="1"/>
          </p:cNvSpPr>
          <p:nvPr/>
        </p:nvSpPr>
        <p:spPr>
          <a:xfrm xmlns:a="http://schemas.openxmlformats.org/drawingml/2006/main">
            <a:off x="590550" y="1409700"/>
            <a:ext cx="638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Source changes and build compatibility</a:t>
            </a:r>
          </a:p>
        </p:txBody>
      </p:sp>
      <p:sp>
        <p:nvSpPr>
          <p:cNvPr id="6" name="">
            <a:extLst xmlns:a="http://schemas.openxmlformats.org/drawingml/2006/main">
              <a:ext uri="{FF2B5EF4-FFF2-40B4-BE49-F238E27FC236}">
                <a16:creationId xmlns:a16="http://schemas.microsoft.com/office/drawing/2014/main" id="{43C2D610-E87B-437F-92B6-5323F93E58B9}"/>
              </a:ext>
            </a:extLst>
          </p:cNvPr>
          <p:cNvSpPr>
            <a:spLocks xmlns:a="http://schemas.openxmlformats.org/drawingml/2006/main" noGrp="1"/>
          </p:cNvSpPr>
          <p:nvPr/>
        </p:nvSpPr>
        <p:spPr>
          <a:xfrm xmlns:a="http://schemas.openxmlformats.org/drawingml/2006/main">
            <a:off x="590550" y="1809750"/>
            <a:ext cx="6381750" cy="29718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D19C9C-F1F1-4B11-A1F0-53AE8F81A77A}"/>
              </a:ext>
            </a:extLst>
          </p:cNvPr>
          <p:cNvSpPr>
            <a:spLocks xmlns:a="http://schemas.openxmlformats.org/drawingml/2006/main" noGrp="1"/>
          </p:cNvSpPr>
          <p:nvPr/>
        </p:nvSpPr>
        <p:spPr>
          <a:xfrm xmlns:a="http://schemas.openxmlformats.org/drawingml/2006/main">
            <a:off x="781050" y="1962150"/>
            <a:ext cx="600075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#if</a:t>
            </a: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DUO_SDK</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if</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#available</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iOS</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27.1</a:t>
            </a:r>
            <a:r>
              <a:rPr sz="1575">
                <a:solidFill>
                  <a:srgbClr val="EDF0FC"/>
                </a:solidFill>
                <a:latin typeface="DejaVu Sans Mono"/>
                <a:ea typeface="DejaVu Sans Mono"/>
                <a:cs typeface="DejaVu Sans Mono"/>
              </a:rPr>
              <a:t>, *)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NativeArrangementContent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items</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items</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category</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category</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else</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fallback</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"Requires iOS 27.1"</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#else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fallback</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"Use the baseline layout"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#endif</a:t>
            </a:r>
          </a:p>
        </p:txBody>
      </p:sp>
      <p:sp>
        <p:nvSpPr>
          <p:cNvPr id="8" name="">
            <a:extLst xmlns:a="http://schemas.openxmlformats.org/drawingml/2006/main">
              <a:ext uri="{FF2B5EF4-FFF2-40B4-BE49-F238E27FC236}">
                <a16:creationId xmlns:a16="http://schemas.microsoft.com/office/drawing/2014/main" id="{9F903AB2-5DB2-401D-882D-47C56C2E32F9}"/>
              </a:ext>
            </a:extLst>
          </p:cNvPr>
          <p:cNvSpPr>
            <a:spLocks xmlns:a="http://schemas.openxmlformats.org/drawingml/2006/main" noGrp="1"/>
          </p:cNvSpPr>
          <p:nvPr/>
        </p:nvSpPr>
        <p:spPr>
          <a:xfrm xmlns:a="http://schemas.openxmlformats.org/drawingml/2006/main">
            <a:off x="590550" y="5029200"/>
            <a:ext cx="6381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Keep iOS 17 support and shared SwiftData.</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Review every screen with App Resizability.</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Build both the baseline and native paths.</a:t>
            </a:r>
          </a:p>
        </p:txBody>
      </p:sp>
      <p:sp>
        <p:nvSpPr>
          <p:cNvPr id="9" name="">
            <a:extLst xmlns:a="http://schemas.openxmlformats.org/drawingml/2006/main">
              <a:ext uri="{FF2B5EF4-FFF2-40B4-BE49-F238E27FC236}">
                <a16:creationId xmlns:a16="http://schemas.microsoft.com/office/drawing/2014/main" id="{2A6CDE7A-2FBE-47E4-88C0-887C28134C92}"/>
              </a:ext>
            </a:extLst>
          </p:cNvPr>
          <p:cNvSpPr>
            <a:spLocks xmlns:a="http://schemas.openxmlformats.org/drawingml/2006/main" noGrp="1"/>
          </p:cNvSpPr>
          <p:nvPr/>
        </p:nvSpPr>
        <p:spPr>
          <a:xfrm xmlns:a="http://schemas.openxmlformats.org/drawingml/2006/main">
            <a:off x="7410450" y="1409700"/>
            <a:ext cx="4191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Validation while the window changes</a:t>
            </a:r>
          </a:p>
        </p:txBody>
      </p:sp>
      <p:sp>
        <p:nvSpPr>
          <p:cNvPr id="10" name="">
            <a:extLst xmlns:a="http://schemas.openxmlformats.org/drawingml/2006/main">
              <a:ext uri="{FF2B5EF4-FFF2-40B4-BE49-F238E27FC236}">
                <a16:creationId xmlns:a16="http://schemas.microsoft.com/office/drawing/2014/main" id="{AAFE8E20-8FD9-45B0-8AD7-258F65E5610C}"/>
              </a:ext>
            </a:extLst>
          </p:cNvPr>
          <p:cNvSpPr>
            <a:spLocks xmlns:a="http://schemas.openxmlformats.org/drawingml/2006/main" noGrp="1"/>
          </p:cNvSpPr>
          <p:nvPr/>
        </p:nvSpPr>
        <p:spPr>
          <a:xfrm xmlns:a="http://schemas.openxmlformats.org/drawingml/2006/main">
            <a:off x="7410450" y="191452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State continuity</a:t>
            </a:r>
          </a:p>
        </p:txBody>
      </p:sp>
      <p:sp>
        <p:nvSpPr>
          <p:cNvPr id="11" name="">
            <a:extLst xmlns:a="http://schemas.openxmlformats.org/drawingml/2006/main">
              <a:ext uri="{FF2B5EF4-FFF2-40B4-BE49-F238E27FC236}">
                <a16:creationId xmlns:a16="http://schemas.microsoft.com/office/drawing/2014/main" id="{8470D5A9-8A44-4FDD-AAF0-2C3DF1284357}"/>
              </a:ext>
            </a:extLst>
          </p:cNvPr>
          <p:cNvSpPr>
            <a:spLocks xmlns:a="http://schemas.openxmlformats.org/drawingml/2006/main" noGrp="1"/>
          </p:cNvSpPr>
          <p:nvPr/>
        </p:nvSpPr>
        <p:spPr>
          <a:xfrm xmlns:a="http://schemas.openxmlformats.org/drawingml/2006/main">
            <a:off x="7410450" y="2314575"/>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Keep the same selection, draft and records.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Avoid resetting identity with .id(width).</a:t>
            </a:r>
          </a:p>
        </p:txBody>
      </p:sp>
      <p:sp>
        <p:nvSpPr>
          <p:cNvPr id="12" name="">
            <a:extLst xmlns:a="http://schemas.openxmlformats.org/drawingml/2006/main">
              <a:ext uri="{FF2B5EF4-FFF2-40B4-BE49-F238E27FC236}">
                <a16:creationId xmlns:a16="http://schemas.microsoft.com/office/drawing/2014/main" id="{6831B2C4-9227-4989-AE0C-D31F4836F4FB}"/>
              </a:ext>
            </a:extLst>
          </p:cNvPr>
          <p:cNvSpPr>
            <a:spLocks xmlns:a="http://schemas.openxmlformats.org/drawingml/2006/main" noGrp="1"/>
          </p:cNvSpPr>
          <p:nvPr/>
        </p:nvSpPr>
        <p:spPr>
          <a:xfrm xmlns:a="http://schemas.openxmlformats.org/drawingml/2006/main">
            <a:off x="7410450" y="328612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Layout and accessibility</a:t>
            </a:r>
          </a:p>
        </p:txBody>
      </p:sp>
      <p:sp>
        <p:nvSpPr>
          <p:cNvPr id="13" name="">
            <a:extLst xmlns:a="http://schemas.openxmlformats.org/drawingml/2006/main">
              <a:ext uri="{FF2B5EF4-FFF2-40B4-BE49-F238E27FC236}">
                <a16:creationId xmlns:a16="http://schemas.microsoft.com/office/drawing/2014/main" id="{F4EB5930-B8D8-4808-A5B1-A447DFD9CA62}"/>
              </a:ext>
            </a:extLst>
          </p:cNvPr>
          <p:cNvSpPr>
            <a:spLocks xmlns:a="http://schemas.openxmlformats.org/drawingml/2006/main" noGrp="1"/>
          </p:cNvSpPr>
          <p:nvPr/>
        </p:nvSpPr>
        <p:spPr>
          <a:xfrm xmlns:a="http://schemas.openxmlformats.org/drawingml/2006/main">
            <a:off x="7410450" y="3686175"/>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Open, close, rotate and multitask.</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Test large text, overflow and both edges.</a:t>
            </a:r>
          </a:p>
        </p:txBody>
      </p:sp>
      <p:sp>
        <p:nvSpPr>
          <p:cNvPr id="14" name="">
            <a:extLst xmlns:a="http://schemas.openxmlformats.org/drawingml/2006/main">
              <a:ext uri="{FF2B5EF4-FFF2-40B4-BE49-F238E27FC236}">
                <a16:creationId xmlns:a16="http://schemas.microsoft.com/office/drawing/2014/main" id="{C57B1C90-BE1F-4430-94B1-B605072422E5}"/>
              </a:ext>
            </a:extLst>
          </p:cNvPr>
          <p:cNvSpPr>
            <a:spLocks xmlns:a="http://schemas.openxmlformats.org/drawingml/2006/main" noGrp="1"/>
          </p:cNvSpPr>
          <p:nvPr/>
        </p:nvSpPr>
        <p:spPr>
          <a:xfrm xmlns:a="http://schemas.openxmlformats.org/drawingml/2006/main">
            <a:off x="7410450" y="465772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Performance</a:t>
            </a:r>
          </a:p>
        </p:txBody>
      </p:sp>
      <p:sp>
        <p:nvSpPr>
          <p:cNvPr id="15" name="">
            <a:extLst xmlns:a="http://schemas.openxmlformats.org/drawingml/2006/main">
              <a:ext uri="{FF2B5EF4-FFF2-40B4-BE49-F238E27FC236}">
                <a16:creationId xmlns:a16="http://schemas.microsoft.com/office/drawing/2014/main" id="{FA314865-BEF4-4B3B-9941-7F3018C4CC8D}"/>
              </a:ext>
            </a:extLst>
          </p:cNvPr>
          <p:cNvSpPr>
            <a:spLocks xmlns:a="http://schemas.openxmlformats.org/drawingml/2006/main" noGrp="1"/>
          </p:cNvSpPr>
          <p:nvPr/>
        </p:nvSpPr>
        <p:spPr>
          <a:xfrm xmlns:a="http://schemas.openxmlformats.org/drawingml/2006/main">
            <a:off x="7410450" y="50577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Keep body inexpensive. Profile transitions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with Instruments and realistic data.</a:t>
            </a:r>
          </a:p>
        </p:txBody>
      </p:sp>
      <p:sp>
        <p:nvSpPr>
          <p:cNvPr id="16" name="">
            <a:extLst xmlns:a="http://schemas.openxmlformats.org/drawingml/2006/main">
              <a:ext uri="{FF2B5EF4-FFF2-40B4-BE49-F238E27FC236}">
                <a16:creationId xmlns:a16="http://schemas.microsoft.com/office/drawing/2014/main" id="{0FBAC857-EE7D-46D5-9C5F-6EB2446A9A73}"/>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The examples now have source implementations. Xcode compilation and device validation remain the next step.</a:t>
            </a:r>
          </a:p>
        </p:txBody>
      </p:sp>
    </p:spTree>
    <p:extLst>
      <p:ext uri="{BB962C8B-B14F-4D97-AF65-F5344CB8AC3E}">
        <p14:creationId xmlns:p14="http://schemas.microsoft.com/office/powerpoint/2010/main" val="32873132"/>
      </p:ext>
    </p:extLst>
  </p:cSld>
</p:sld>
</file>

<file path=ppt/slides/slide17.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61FB3E4-6BC0-46F2-B775-0F01E9E546EC}"/>
              </a:ext>
            </a:extLst>
          </p:cNvPr>
          <p:cNvSpPr>
            <a:spLocks xmlns:a="http://schemas.openxmlformats.org/drawingml/2006/main" noGrp="1"/>
          </p:cNvSpPr>
          <p:nvPr/>
        </p:nvSpPr>
        <p:spPr>
          <a:xfrm xmlns:a="http://schemas.openxmlformats.org/drawingml/2006/main">
            <a:off x="1066800" y="2314575"/>
            <a:ext cx="10058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550" b="1">
                <a:solidFill>
                  <a:srgbClr val="10172A"/>
                </a:solidFill>
                <a:latin typeface="Arial"/>
                <a:ea typeface="Arial"/>
                <a:cs typeface="Arial"/>
              </a:defRPr>
            </a:pPr>
            <a:r>
              <a:rPr sz="5550" b="1">
                <a:solidFill>
                  <a:srgbClr val="10172A"/>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1C48158C-01F8-4159-85E2-7029061AD9C8}"/>
              </a:ext>
            </a:extLst>
          </p:cNvPr>
          <p:cNvSpPr>
            <a:spLocks xmlns:a="http://schemas.openxmlformats.org/drawingml/2006/main" noGrp="1"/>
          </p:cNvSpPr>
          <p:nvPr/>
        </p:nvSpPr>
        <p:spPr>
          <a:xfrm xmlns:a="http://schemas.openxmlformats.org/drawingml/2006/main">
            <a:off x="1114425" y="3562350"/>
            <a:ext cx="10010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0">
                <a:solidFill>
                  <a:srgbClr val="5B4EE5"/>
                </a:solidFill>
                <a:latin typeface="Arial"/>
                <a:ea typeface="Arial"/>
                <a:cs typeface="Arial"/>
              </a:defRPr>
            </a:pPr>
            <a:r>
              <a:rPr sz="2550" b="0">
                <a:solidFill>
                  <a:srgbClr val="5B4EE5"/>
                </a:solidFill>
                <a:latin typeface="Arial"/>
                <a:ea typeface="Arial"/>
                <a:cs typeface="Arial"/>
              </a:rPr>
              <a:t>Somendra</a:t>
            </a:r>
          </a:p>
        </p:txBody>
      </p:sp>
      <p:sp>
        <p:nvSpPr>
          <p:cNvPr id="3" name="">
            <a:extLst xmlns:a="http://schemas.openxmlformats.org/drawingml/2006/main">
              <a:ext uri="{FF2B5EF4-FFF2-40B4-BE49-F238E27FC236}">
                <a16:creationId xmlns:a16="http://schemas.microsoft.com/office/drawing/2014/main" id="{1848720A-E653-4992-917B-CCB0A58F83AA}"/>
              </a:ext>
            </a:extLst>
          </p:cNvPr>
          <p:cNvSpPr>
            <a:spLocks xmlns:a="http://schemas.openxmlformats.org/drawingml/2006/main" noGrp="1"/>
          </p:cNvSpPr>
          <p:nvPr/>
        </p:nvSpPr>
        <p:spPr>
          <a:xfrm xmlns:a="http://schemas.openxmlformats.org/drawingml/2006/main">
            <a:off x="1114425" y="4333875"/>
            <a:ext cx="10010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46516B"/>
                </a:solidFill>
                <a:latin typeface="Arial"/>
                <a:ea typeface="Arial"/>
                <a:cs typeface="Arial"/>
              </a:defRPr>
            </a:pPr>
            <a:r>
              <a:rPr sz="1875" b="0">
                <a:solidFill>
                  <a:srgbClr val="46516B"/>
                </a:solidFill>
                <a:latin typeface="Arial"/>
                <a:ea typeface="Arial"/>
                <a:cs typeface="Arial"/>
              </a:rPr>
              <a:t>Adaptive layout for iPhone Duo</a:t>
            </a:r>
          </a:p>
        </p:txBody>
      </p:sp>
    </p:spTree>
    <p:extLst>
      <p:ext uri="{BB962C8B-B14F-4D97-AF65-F5344CB8AC3E}">
        <p14:creationId xmlns:p14="http://schemas.microsoft.com/office/powerpoint/2010/main" val="5835927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2026-09-26T05:59:47.6690000Z</dcterms:created>
  <dcterms:modified xsi:type="dcterms:W3CDTF">2026-09-26T05:59:47.6690000Z</dcterms:modified>
</coreProperties>
</file>